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0H+jIuIWb4vK2ihuORwCxzzF4o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94"/>
  </p:normalViewPr>
  <p:slideViewPr>
    <p:cSldViewPr snapToGrid="0">
      <p:cViewPr varScale="1">
        <p:scale>
          <a:sx n="121" d="100"/>
          <a:sy n="121" d="100"/>
        </p:scale>
        <p:origin x="200" y="17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 name="Google Shape;47;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26e603d10e7_0_1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 name="Google Shape;55;g26e603d10e7_0_1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 name="Google Shape;62;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
        <p:nvSpPr>
          <p:cNvPr id="73" name="Google Shape;73;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1efdc8c695_1_12: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1efdc8c695_1_1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6" name="Google Shape;9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1efdc8c695_1_7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1efdc8c695_1_7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1efdc8c695_1_8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1efdc8c695_1_8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1efdc8c695_1_9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1efdc8c695_1_9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3" name="Google Shape;133;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1efdc8c695_1_2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1efdc8c695_1_20:notes"/>
          <p:cNvSpPr>
            <a:spLocks noGrp="1" noRot="1" noChangeAspect="1"/>
          </p:cNvSpPr>
          <p:nvPr>
            <p:ph type="sldImg" idx="2"/>
          </p:nvPr>
        </p:nvSpPr>
        <p:spPr>
          <a:xfrm>
            <a:off x="3810000" y="514350"/>
            <a:ext cx="4573500" cy="2571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1efdc8c695_2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1efdc8c695_2_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2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2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2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2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2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2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29: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 name="Google Shape;245;p1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14"/>
          <p:cNvSpPr txBox="1">
            <a:spLocks noGrp="1"/>
          </p:cNvSpPr>
          <p:nvPr>
            <p:ph type="title"/>
          </p:nvPr>
        </p:nvSpPr>
        <p:spPr>
          <a:xfrm>
            <a:off x="732968" y="604947"/>
            <a:ext cx="5239385" cy="5130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0" i="0">
                <a:solidFill>
                  <a:srgbClr val="13294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4"/>
          <p:cNvSpPr txBox="1">
            <a:spLocks noGrp="1"/>
          </p:cNvSpPr>
          <p:nvPr>
            <p:ph type="body" idx="1"/>
          </p:nvPr>
        </p:nvSpPr>
        <p:spPr>
          <a:xfrm>
            <a:off x="1706282" y="2811464"/>
            <a:ext cx="9229090" cy="18542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400" b="0" i="0">
                <a:solidFill>
                  <a:schemeClr val="lt1"/>
                </a:solidFill>
                <a:latin typeface="Arial"/>
                <a:ea typeface="Arial"/>
                <a:cs typeface="Arial"/>
                <a:sym typeface="Aria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 name="Google Shape;17;p14"/>
          <p:cNvSpPr txBox="1">
            <a:spLocks noGrp="1"/>
          </p:cNvSpPr>
          <p:nvPr>
            <p:ph type="ftr" idx="11"/>
          </p:nvPr>
        </p:nvSpPr>
        <p:spPr>
          <a:xfrm>
            <a:off x="535940" y="6439324"/>
            <a:ext cx="2731135" cy="19621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4"/>
          <p:cNvSpPr txBox="1">
            <a:spLocks noGrp="1"/>
          </p:cNvSpPr>
          <p:nvPr>
            <p:ph type="sldNum" idx="12"/>
          </p:nvPr>
        </p:nvSpPr>
        <p:spPr>
          <a:xfrm>
            <a:off x="11055985" y="6444999"/>
            <a:ext cx="258445" cy="196215"/>
          </a:xfrm>
          <a:prstGeom prst="rect">
            <a:avLst/>
          </a:prstGeom>
          <a:noFill/>
          <a:ln>
            <a:noFill/>
          </a:ln>
        </p:spPr>
        <p:txBody>
          <a:bodyPr spcFirstLastPara="1" wrap="square" lIns="0" tIns="0" rIns="0" bIns="0" anchor="t" anchorCtr="0">
            <a:spAutoFit/>
          </a:bodyPr>
          <a:lstStyle>
            <a:lvl1pPr marL="121920" marR="0" lvl="0"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121920" marR="0" lvl="1"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121920" marR="0" lvl="2"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121920" marR="0" lvl="3"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121920" marR="0" lvl="4"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121920" marR="0" lvl="5"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121920" marR="0" lvl="6"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121920" marR="0" lvl="7"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121920" marR="0" lvl="8"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12192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732968" y="604947"/>
            <a:ext cx="5239385" cy="5130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0" i="0">
                <a:solidFill>
                  <a:srgbClr val="13294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6"/>
          <p:cNvSpPr txBox="1">
            <a:spLocks noGrp="1"/>
          </p:cNvSpPr>
          <p:nvPr>
            <p:ph type="ftr" idx="11"/>
          </p:nvPr>
        </p:nvSpPr>
        <p:spPr>
          <a:xfrm>
            <a:off x="535940" y="6439324"/>
            <a:ext cx="2731135" cy="19621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11055985" y="6444999"/>
            <a:ext cx="258445" cy="196215"/>
          </a:xfrm>
          <a:prstGeom prst="rect">
            <a:avLst/>
          </a:prstGeom>
          <a:noFill/>
          <a:ln>
            <a:noFill/>
          </a:ln>
        </p:spPr>
        <p:txBody>
          <a:bodyPr spcFirstLastPara="1" wrap="square" lIns="0" tIns="0" rIns="0" bIns="0" anchor="t" anchorCtr="0">
            <a:spAutoFit/>
          </a:bodyPr>
          <a:lstStyle>
            <a:lvl1pPr marL="121920" marR="0" lvl="0"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121920" marR="0" lvl="1"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121920" marR="0" lvl="2"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121920" marR="0" lvl="3"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121920" marR="0" lvl="4"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121920" marR="0" lvl="5"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121920" marR="0" lvl="6"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121920" marR="0" lvl="7"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121920" marR="0" lvl="8"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12192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wo Content">
  <p:cSld name="Two Content">
    <p:bg>
      <p:bgPr>
        <a:solidFill>
          <a:schemeClr val="lt1"/>
        </a:solidFill>
        <a:effectLst/>
      </p:bgPr>
    </p:bg>
    <p:spTree>
      <p:nvGrpSpPr>
        <p:cNvPr id="1" name="Shape 25"/>
        <p:cNvGrpSpPr/>
        <p:nvPr/>
      </p:nvGrpSpPr>
      <p:grpSpPr>
        <a:xfrm>
          <a:off x="0" y="0"/>
          <a:ext cx="0" cy="0"/>
          <a:chOff x="0" y="0"/>
          <a:chExt cx="0" cy="0"/>
        </a:xfrm>
      </p:grpSpPr>
      <p:pic>
        <p:nvPicPr>
          <p:cNvPr id="26" name="Google Shape;26;p15"/>
          <p:cNvPicPr preferRelativeResize="0"/>
          <p:nvPr/>
        </p:nvPicPr>
        <p:blipFill rotWithShape="1">
          <a:blip r:embed="rId2">
            <a:alphaModFix/>
          </a:blip>
          <a:srcRect/>
          <a:stretch/>
        </p:blipFill>
        <p:spPr>
          <a:xfrm>
            <a:off x="11112500" y="279400"/>
            <a:ext cx="516231" cy="745668"/>
          </a:xfrm>
          <a:prstGeom prst="rect">
            <a:avLst/>
          </a:prstGeom>
          <a:noFill/>
          <a:ln>
            <a:noFill/>
          </a:ln>
        </p:spPr>
      </p:pic>
      <p:sp>
        <p:nvSpPr>
          <p:cNvPr id="27" name="Google Shape;27;p15"/>
          <p:cNvSpPr/>
          <p:nvPr/>
        </p:nvSpPr>
        <p:spPr>
          <a:xfrm>
            <a:off x="554224" y="277808"/>
            <a:ext cx="98425" cy="1189990"/>
          </a:xfrm>
          <a:custGeom>
            <a:avLst/>
            <a:gdLst/>
            <a:ahLst/>
            <a:cxnLst/>
            <a:rect l="l" t="t" r="r" b="b"/>
            <a:pathLst>
              <a:path w="98425" h="1189990" extrusionOk="0">
                <a:moveTo>
                  <a:pt x="0" y="1189819"/>
                </a:moveTo>
                <a:lnTo>
                  <a:pt x="0" y="0"/>
                </a:lnTo>
                <a:lnTo>
                  <a:pt x="98237" y="0"/>
                </a:lnTo>
                <a:lnTo>
                  <a:pt x="98237" y="1189819"/>
                </a:lnTo>
                <a:lnTo>
                  <a:pt x="0" y="1189819"/>
                </a:lnTo>
                <a:close/>
              </a:path>
            </a:pathLst>
          </a:custGeom>
          <a:solidFill>
            <a:srgbClr val="FF5F0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8" name="Google Shape;28;p15"/>
          <p:cNvSpPr/>
          <p:nvPr/>
        </p:nvSpPr>
        <p:spPr>
          <a:xfrm>
            <a:off x="0" y="6245412"/>
            <a:ext cx="12187555" cy="612775"/>
          </a:xfrm>
          <a:custGeom>
            <a:avLst/>
            <a:gdLst/>
            <a:ahLst/>
            <a:cxnLst/>
            <a:rect l="l" t="t" r="r" b="b"/>
            <a:pathLst>
              <a:path w="12187555" h="612775" extrusionOk="0">
                <a:moveTo>
                  <a:pt x="12187066" y="612587"/>
                </a:moveTo>
                <a:lnTo>
                  <a:pt x="0" y="612587"/>
                </a:lnTo>
                <a:lnTo>
                  <a:pt x="0" y="0"/>
                </a:lnTo>
                <a:lnTo>
                  <a:pt x="12187066" y="0"/>
                </a:lnTo>
                <a:lnTo>
                  <a:pt x="12187066" y="612587"/>
                </a:lnTo>
                <a:close/>
              </a:path>
            </a:pathLst>
          </a:custGeom>
          <a:solidFill>
            <a:srgbClr val="13294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9" name="Google Shape;29;p15"/>
          <p:cNvSpPr txBox="1">
            <a:spLocks noGrp="1"/>
          </p:cNvSpPr>
          <p:nvPr>
            <p:ph type="title"/>
          </p:nvPr>
        </p:nvSpPr>
        <p:spPr>
          <a:xfrm>
            <a:off x="732968" y="604947"/>
            <a:ext cx="5239385" cy="5130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0" i="0">
                <a:solidFill>
                  <a:srgbClr val="13294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5"/>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1" name="Google Shape;31;p15"/>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2" name="Google Shape;32;p15"/>
          <p:cNvSpPr txBox="1">
            <a:spLocks noGrp="1"/>
          </p:cNvSpPr>
          <p:nvPr>
            <p:ph type="ftr" idx="11"/>
          </p:nvPr>
        </p:nvSpPr>
        <p:spPr>
          <a:xfrm>
            <a:off x="535940" y="6439324"/>
            <a:ext cx="2731135" cy="19621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5"/>
          <p:cNvSpPr txBox="1">
            <a:spLocks noGrp="1"/>
          </p:cNvSpPr>
          <p:nvPr>
            <p:ph type="sldNum" idx="12"/>
          </p:nvPr>
        </p:nvSpPr>
        <p:spPr>
          <a:xfrm>
            <a:off x="11055985" y="6444999"/>
            <a:ext cx="258445" cy="196215"/>
          </a:xfrm>
          <a:prstGeom prst="rect">
            <a:avLst/>
          </a:prstGeom>
          <a:noFill/>
          <a:ln>
            <a:noFill/>
          </a:ln>
        </p:spPr>
        <p:txBody>
          <a:bodyPr spcFirstLastPara="1" wrap="square" lIns="0" tIns="0" rIns="0" bIns="0" anchor="t" anchorCtr="0">
            <a:spAutoFit/>
          </a:bodyPr>
          <a:lstStyle>
            <a:lvl1pPr marL="121920" marR="0" lvl="0"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121920" marR="0" lvl="1"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121920" marR="0" lvl="2"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121920" marR="0" lvl="3"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121920" marR="0" lvl="4"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121920" marR="0" lvl="5"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121920" marR="0" lvl="6"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121920" marR="0" lvl="7"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121920" marR="0" lvl="8"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12192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5"/>
        <p:cNvGrpSpPr/>
        <p:nvPr/>
      </p:nvGrpSpPr>
      <p:grpSpPr>
        <a:xfrm>
          <a:off x="0" y="0"/>
          <a:ext cx="0" cy="0"/>
          <a:chOff x="0" y="0"/>
          <a:chExt cx="0" cy="0"/>
        </a:xfrm>
      </p:grpSpPr>
      <p:sp>
        <p:nvSpPr>
          <p:cNvPr id="36" name="Google Shape;36;p17"/>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0" i="0">
                <a:solidFill>
                  <a:srgbClr val="13294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7"/>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4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535940" y="6439324"/>
            <a:ext cx="2731135" cy="19621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7"/>
          <p:cNvSpPr txBox="1">
            <a:spLocks noGrp="1"/>
          </p:cNvSpPr>
          <p:nvPr>
            <p:ph type="sldNum" idx="12"/>
          </p:nvPr>
        </p:nvSpPr>
        <p:spPr>
          <a:xfrm>
            <a:off x="11055985" y="6444999"/>
            <a:ext cx="258445" cy="196215"/>
          </a:xfrm>
          <a:prstGeom prst="rect">
            <a:avLst/>
          </a:prstGeom>
          <a:noFill/>
          <a:ln>
            <a:noFill/>
          </a:ln>
        </p:spPr>
        <p:txBody>
          <a:bodyPr spcFirstLastPara="1" wrap="square" lIns="0" tIns="0" rIns="0" bIns="0" anchor="t" anchorCtr="0">
            <a:spAutoFit/>
          </a:bodyPr>
          <a:lstStyle>
            <a:lvl1pPr marL="121920" marR="0" lvl="0"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121920" marR="0" lvl="1"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121920" marR="0" lvl="2"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121920" marR="0" lvl="3"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121920" marR="0" lvl="4"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121920" marR="0" lvl="5"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121920" marR="0" lvl="6"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121920" marR="0" lvl="7"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121920" marR="0" lvl="8"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12192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1"/>
        <p:cNvGrpSpPr/>
        <p:nvPr/>
      </p:nvGrpSpPr>
      <p:grpSpPr>
        <a:xfrm>
          <a:off x="0" y="0"/>
          <a:ext cx="0" cy="0"/>
          <a:chOff x="0" y="0"/>
          <a:chExt cx="0" cy="0"/>
        </a:xfrm>
      </p:grpSpPr>
      <p:sp>
        <p:nvSpPr>
          <p:cNvPr id="42" name="Google Shape;42;p18"/>
          <p:cNvSpPr txBox="1">
            <a:spLocks noGrp="1"/>
          </p:cNvSpPr>
          <p:nvPr>
            <p:ph type="ftr" idx="11"/>
          </p:nvPr>
        </p:nvSpPr>
        <p:spPr>
          <a:xfrm>
            <a:off x="535940" y="6439324"/>
            <a:ext cx="2731135" cy="19621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8"/>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8"/>
          <p:cNvSpPr txBox="1">
            <a:spLocks noGrp="1"/>
          </p:cNvSpPr>
          <p:nvPr>
            <p:ph type="sldNum" idx="12"/>
          </p:nvPr>
        </p:nvSpPr>
        <p:spPr>
          <a:xfrm>
            <a:off x="11055985" y="6444999"/>
            <a:ext cx="258445" cy="196215"/>
          </a:xfrm>
          <a:prstGeom prst="rect">
            <a:avLst/>
          </a:prstGeom>
          <a:noFill/>
          <a:ln>
            <a:noFill/>
          </a:ln>
        </p:spPr>
        <p:txBody>
          <a:bodyPr spcFirstLastPara="1" wrap="square" lIns="0" tIns="0" rIns="0" bIns="0" anchor="t" anchorCtr="0">
            <a:spAutoFit/>
          </a:bodyPr>
          <a:lstStyle>
            <a:lvl1pPr marL="121920" marR="0" lvl="0"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121920" marR="0" lvl="1"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121920" marR="0" lvl="2"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121920" marR="0" lvl="3"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121920" marR="0" lvl="4"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121920" marR="0" lvl="5"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121920" marR="0" lvl="6"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121920" marR="0" lvl="7"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121920" marR="0" lvl="8" indent="0" algn="l">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12192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p:nvPr/>
        </p:nvSpPr>
        <p:spPr>
          <a:xfrm>
            <a:off x="554224" y="277808"/>
            <a:ext cx="98425" cy="1189990"/>
          </a:xfrm>
          <a:custGeom>
            <a:avLst/>
            <a:gdLst/>
            <a:ahLst/>
            <a:cxnLst/>
            <a:rect l="l" t="t" r="r" b="b"/>
            <a:pathLst>
              <a:path w="98425" h="1189990" extrusionOk="0">
                <a:moveTo>
                  <a:pt x="0" y="1189819"/>
                </a:moveTo>
                <a:lnTo>
                  <a:pt x="0" y="0"/>
                </a:lnTo>
                <a:lnTo>
                  <a:pt x="98237" y="0"/>
                </a:lnTo>
                <a:lnTo>
                  <a:pt x="98237" y="1189819"/>
                </a:lnTo>
                <a:lnTo>
                  <a:pt x="0" y="1189819"/>
                </a:lnTo>
                <a:close/>
              </a:path>
            </a:pathLst>
          </a:custGeom>
          <a:solidFill>
            <a:srgbClr val="FF5F0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 name="Google Shape;7;p13"/>
          <p:cNvPicPr preferRelativeResize="0"/>
          <p:nvPr/>
        </p:nvPicPr>
        <p:blipFill rotWithShape="1">
          <a:blip r:embed="rId7">
            <a:alphaModFix/>
          </a:blip>
          <a:srcRect/>
          <a:stretch/>
        </p:blipFill>
        <p:spPr>
          <a:xfrm>
            <a:off x="11112500" y="279400"/>
            <a:ext cx="516231" cy="745668"/>
          </a:xfrm>
          <a:prstGeom prst="rect">
            <a:avLst/>
          </a:prstGeom>
          <a:noFill/>
          <a:ln>
            <a:noFill/>
          </a:ln>
        </p:spPr>
      </p:pic>
      <p:sp>
        <p:nvSpPr>
          <p:cNvPr id="8" name="Google Shape;8;p13"/>
          <p:cNvSpPr/>
          <p:nvPr/>
        </p:nvSpPr>
        <p:spPr>
          <a:xfrm>
            <a:off x="0" y="6245412"/>
            <a:ext cx="12187555" cy="612775"/>
          </a:xfrm>
          <a:custGeom>
            <a:avLst/>
            <a:gdLst/>
            <a:ahLst/>
            <a:cxnLst/>
            <a:rect l="l" t="t" r="r" b="b"/>
            <a:pathLst>
              <a:path w="12187555" h="612775" extrusionOk="0">
                <a:moveTo>
                  <a:pt x="12187066" y="612587"/>
                </a:moveTo>
                <a:lnTo>
                  <a:pt x="0" y="612587"/>
                </a:lnTo>
                <a:lnTo>
                  <a:pt x="0" y="0"/>
                </a:lnTo>
                <a:lnTo>
                  <a:pt x="12187066" y="0"/>
                </a:lnTo>
                <a:lnTo>
                  <a:pt x="12187066" y="612587"/>
                </a:lnTo>
                <a:close/>
              </a:path>
            </a:pathLst>
          </a:custGeom>
          <a:solidFill>
            <a:srgbClr val="13294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 name="Google Shape;9;p13"/>
          <p:cNvSpPr txBox="1">
            <a:spLocks noGrp="1"/>
          </p:cNvSpPr>
          <p:nvPr>
            <p:ph type="title"/>
          </p:nvPr>
        </p:nvSpPr>
        <p:spPr>
          <a:xfrm>
            <a:off x="732968" y="604947"/>
            <a:ext cx="5239385" cy="51308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200" b="0" i="0" u="none" strike="noStrike" cap="none">
                <a:solidFill>
                  <a:srgbClr val="13294B"/>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13"/>
          <p:cNvSpPr txBox="1">
            <a:spLocks noGrp="1"/>
          </p:cNvSpPr>
          <p:nvPr>
            <p:ph type="body" idx="1"/>
          </p:nvPr>
        </p:nvSpPr>
        <p:spPr>
          <a:xfrm>
            <a:off x="1706282" y="2811464"/>
            <a:ext cx="9229090" cy="18542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13"/>
          <p:cNvSpPr txBox="1">
            <a:spLocks noGrp="1"/>
          </p:cNvSpPr>
          <p:nvPr>
            <p:ph type="ftr" idx="11"/>
          </p:nvPr>
        </p:nvSpPr>
        <p:spPr>
          <a:xfrm>
            <a:off x="535940" y="6439324"/>
            <a:ext cx="2731135" cy="19621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13"/>
          <p:cNvSpPr txBox="1">
            <a:spLocks noGrp="1"/>
          </p:cNvSpPr>
          <p:nvPr>
            <p:ph type="sldNum" idx="12"/>
          </p:nvPr>
        </p:nvSpPr>
        <p:spPr>
          <a:xfrm>
            <a:off x="11055985" y="6444999"/>
            <a:ext cx="258445" cy="196215"/>
          </a:xfrm>
          <a:prstGeom prst="rect">
            <a:avLst/>
          </a:prstGeom>
          <a:noFill/>
          <a:ln>
            <a:noFill/>
          </a:ln>
        </p:spPr>
        <p:txBody>
          <a:bodyPr spcFirstLastPara="1" wrap="square" lIns="0" tIns="0" rIns="0" bIns="0" anchor="t" anchorCtr="0">
            <a:spAutoFit/>
          </a:bodyPr>
          <a:lstStyle>
            <a:lvl1pPr marL="121920" marR="0" lvl="0" indent="0" algn="l" rtl="0">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121920" marR="0" lvl="1" indent="0" algn="l" rtl="0">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121920" marR="0" lvl="2" indent="0" algn="l" rtl="0">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121920" marR="0" lvl="3" indent="0" algn="l" rtl="0">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121920" marR="0" lvl="4" indent="0" algn="l" rtl="0">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121920" marR="0" lvl="5" indent="0" algn="l" rtl="0">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121920" marR="0" lvl="6" indent="0" algn="l" rtl="0">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121920" marR="0" lvl="7" indent="0" algn="l" rtl="0">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121920" marR="0" lvl="8" indent="0" algn="l" rtl="0">
              <a:lnSpc>
                <a:spcPct val="11875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12192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8"/>
        <p:cNvGrpSpPr/>
        <p:nvPr/>
      </p:nvGrpSpPr>
      <p:grpSpPr>
        <a:xfrm>
          <a:off x="0" y="0"/>
          <a:ext cx="0" cy="0"/>
          <a:chOff x="0" y="0"/>
          <a:chExt cx="0" cy="0"/>
        </a:xfrm>
      </p:grpSpPr>
      <p:pic>
        <p:nvPicPr>
          <p:cNvPr id="49" name="Google Shape;49;p1"/>
          <p:cNvPicPr preferRelativeResize="0"/>
          <p:nvPr/>
        </p:nvPicPr>
        <p:blipFill rotWithShape="1">
          <a:blip r:embed="rId3">
            <a:alphaModFix/>
          </a:blip>
          <a:srcRect/>
          <a:stretch/>
        </p:blipFill>
        <p:spPr>
          <a:xfrm>
            <a:off x="0" y="0"/>
            <a:ext cx="12191998" cy="6858000"/>
          </a:xfrm>
          <a:prstGeom prst="rect">
            <a:avLst/>
          </a:prstGeom>
          <a:noFill/>
          <a:ln>
            <a:noFill/>
          </a:ln>
        </p:spPr>
      </p:pic>
      <p:sp>
        <p:nvSpPr>
          <p:cNvPr id="50" name="Google Shape;50;p1"/>
          <p:cNvSpPr txBox="1"/>
          <p:nvPr/>
        </p:nvSpPr>
        <p:spPr>
          <a:xfrm>
            <a:off x="1997750" y="2041975"/>
            <a:ext cx="9414600" cy="1629000"/>
          </a:xfrm>
          <a:prstGeom prst="rect">
            <a:avLst/>
          </a:prstGeom>
          <a:noFill/>
          <a:ln>
            <a:noFill/>
          </a:ln>
        </p:spPr>
        <p:txBody>
          <a:bodyPr spcFirstLastPara="1" wrap="square" lIns="0" tIns="12700" rIns="0" bIns="0" anchor="t" anchorCtr="0">
            <a:spAutoFit/>
          </a:bodyPr>
          <a:lstStyle/>
          <a:p>
            <a:pPr marL="12700" marR="0" lvl="0" indent="0" algn="r" rtl="0">
              <a:lnSpc>
                <a:spcPct val="100000"/>
              </a:lnSpc>
              <a:spcBef>
                <a:spcPts val="0"/>
              </a:spcBef>
              <a:spcAft>
                <a:spcPts val="0"/>
              </a:spcAft>
              <a:buNone/>
            </a:pPr>
            <a:r>
              <a:rPr lang="en-US" sz="3500">
                <a:solidFill>
                  <a:srgbClr val="FFFFFF"/>
                </a:solidFill>
                <a:latin typeface="Calibri"/>
                <a:ea typeface="Calibri"/>
                <a:cs typeface="Calibri"/>
                <a:sym typeface="Calibri"/>
              </a:rPr>
              <a:t>Multi-Label Text Classification of Research Articles: Evaluating the Performance of Pretrained and Transformer Models</a:t>
            </a:r>
            <a:endParaRPr sz="1100" b="0" i="0" u="none" strike="noStrike" cap="none">
              <a:solidFill>
                <a:srgbClr val="000000"/>
              </a:solidFill>
              <a:latin typeface="Arial"/>
              <a:ea typeface="Arial"/>
              <a:cs typeface="Arial"/>
              <a:sym typeface="Arial"/>
            </a:endParaRPr>
          </a:p>
        </p:txBody>
      </p:sp>
      <p:sp>
        <p:nvSpPr>
          <p:cNvPr id="51" name="Google Shape;51;p1"/>
          <p:cNvSpPr txBox="1"/>
          <p:nvPr/>
        </p:nvSpPr>
        <p:spPr>
          <a:xfrm>
            <a:off x="4202150" y="4248376"/>
            <a:ext cx="7210200" cy="1044000"/>
          </a:xfrm>
          <a:prstGeom prst="rect">
            <a:avLst/>
          </a:prstGeom>
          <a:noFill/>
          <a:ln>
            <a:noFill/>
          </a:ln>
        </p:spPr>
        <p:txBody>
          <a:bodyPr spcFirstLastPara="1" wrap="square" lIns="0" tIns="12700" rIns="0" bIns="0" anchor="t" anchorCtr="0">
            <a:spAutoFit/>
          </a:bodyPr>
          <a:lstStyle/>
          <a:p>
            <a:pPr marL="12700" marR="0" lvl="0" indent="0" algn="r" rtl="0">
              <a:lnSpc>
                <a:spcPct val="100000"/>
              </a:lnSpc>
              <a:spcBef>
                <a:spcPts val="0"/>
              </a:spcBef>
              <a:spcAft>
                <a:spcPts val="0"/>
              </a:spcAft>
              <a:buNone/>
            </a:pPr>
            <a:endParaRPr sz="1700" b="0" i="0" u="none" strike="noStrike" cap="none">
              <a:solidFill>
                <a:srgbClr val="000000"/>
              </a:solidFill>
              <a:latin typeface="Arial"/>
              <a:ea typeface="Arial"/>
              <a:cs typeface="Arial"/>
              <a:sym typeface="Arial"/>
            </a:endParaRPr>
          </a:p>
          <a:p>
            <a:pPr marL="12700" marR="0" lvl="0" indent="0" algn="r" rtl="0">
              <a:lnSpc>
                <a:spcPct val="100000"/>
              </a:lnSpc>
              <a:spcBef>
                <a:spcPts val="0"/>
              </a:spcBef>
              <a:spcAft>
                <a:spcPts val="0"/>
              </a:spcAft>
              <a:buNone/>
            </a:pPr>
            <a:r>
              <a:rPr lang="en-US" sz="2500" b="0" i="0" u="none" strike="noStrike" cap="none">
                <a:solidFill>
                  <a:srgbClr val="FFFFFF"/>
                </a:solidFill>
                <a:latin typeface="Calibri"/>
                <a:ea typeface="Calibri"/>
                <a:cs typeface="Calibri"/>
                <a:sym typeface="Calibri"/>
              </a:rPr>
              <a:t>Sandeep Pandellapalli (psp5)</a:t>
            </a:r>
            <a:endParaRPr sz="1700"/>
          </a:p>
          <a:p>
            <a:pPr marL="12700" marR="0" lvl="0" indent="0" algn="r" rtl="0">
              <a:lnSpc>
                <a:spcPct val="100000"/>
              </a:lnSpc>
              <a:spcBef>
                <a:spcPts val="0"/>
              </a:spcBef>
              <a:spcAft>
                <a:spcPts val="0"/>
              </a:spcAft>
              <a:buNone/>
            </a:pPr>
            <a:r>
              <a:rPr lang="en-US" sz="2500" b="0" i="0" u="none" strike="noStrike" cap="none">
                <a:solidFill>
                  <a:srgbClr val="FFFFFF"/>
                </a:solidFill>
                <a:latin typeface="Calibri"/>
                <a:ea typeface="Calibri"/>
                <a:cs typeface="Calibri"/>
                <a:sym typeface="Calibri"/>
              </a:rPr>
              <a:t>Maithili</a:t>
            </a:r>
            <a:r>
              <a:rPr lang="en-US" sz="2500">
                <a:solidFill>
                  <a:srgbClr val="FFFFFF"/>
                </a:solidFill>
                <a:latin typeface="Calibri"/>
                <a:ea typeface="Calibri"/>
                <a:cs typeface="Calibri"/>
                <a:sym typeface="Calibri"/>
              </a:rPr>
              <a:t> </a:t>
            </a:r>
            <a:r>
              <a:rPr lang="en-US" sz="2500" b="0" i="0" u="none" strike="noStrike" cap="none">
                <a:solidFill>
                  <a:srgbClr val="FFFFFF"/>
                </a:solidFill>
                <a:latin typeface="Calibri"/>
                <a:ea typeface="Calibri"/>
                <a:cs typeface="Calibri"/>
                <a:sym typeface="Calibri"/>
              </a:rPr>
              <a:t>Lingala (msl10)</a:t>
            </a:r>
            <a:endParaRPr sz="1700"/>
          </a:p>
        </p:txBody>
      </p:sp>
      <p:sp>
        <p:nvSpPr>
          <p:cNvPr id="52" name="Google Shape;52;p1"/>
          <p:cNvSpPr txBox="1">
            <a:spLocks noGrp="1"/>
          </p:cNvSpPr>
          <p:nvPr>
            <p:ph type="sldNum" idx="12"/>
          </p:nvPr>
        </p:nvSpPr>
        <p:spPr>
          <a:xfrm>
            <a:off x="11055985" y="6444999"/>
            <a:ext cx="258445" cy="196215"/>
          </a:xfrm>
          <a:prstGeom prst="rect">
            <a:avLst/>
          </a:prstGeom>
          <a:noFill/>
          <a:ln>
            <a:noFill/>
          </a:ln>
        </p:spPr>
        <p:txBody>
          <a:bodyPr spcFirstLastPara="1" wrap="square" lIns="0" tIns="0" rIns="0" bIns="0" anchor="t" anchorCtr="0">
            <a:spAutoFit/>
          </a:bodyPr>
          <a:lstStyle/>
          <a:p>
            <a:pPr marL="38100" lvl="0" indent="0" algn="l" rtl="0">
              <a:lnSpc>
                <a:spcPct val="118750"/>
              </a:lnSpc>
              <a:spcBef>
                <a:spcPts val="0"/>
              </a:spcBef>
              <a:spcAft>
                <a:spcPts val="0"/>
              </a:spcAft>
              <a:buSzPts val="12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g26e603d10e7_0_10"/>
          <p:cNvSpPr txBox="1">
            <a:spLocks noGrp="1"/>
          </p:cNvSpPr>
          <p:nvPr>
            <p:ph type="title"/>
          </p:nvPr>
        </p:nvSpPr>
        <p:spPr>
          <a:xfrm>
            <a:off x="732968" y="604947"/>
            <a:ext cx="52395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 </a:t>
            </a:r>
            <a:r>
              <a:rPr lang="en-US">
                <a:latin typeface="Calibri"/>
                <a:ea typeface="Calibri"/>
                <a:cs typeface="Calibri"/>
                <a:sym typeface="Calibri"/>
              </a:rPr>
              <a:t>  Agenda</a:t>
            </a:r>
            <a:endParaRPr/>
          </a:p>
        </p:txBody>
      </p:sp>
      <p:sp>
        <p:nvSpPr>
          <p:cNvPr id="58" name="Google Shape;58;g26e603d10e7_0_10"/>
          <p:cNvSpPr txBox="1">
            <a:spLocks noGrp="1"/>
          </p:cNvSpPr>
          <p:nvPr>
            <p:ph type="title"/>
          </p:nvPr>
        </p:nvSpPr>
        <p:spPr>
          <a:xfrm>
            <a:off x="732974" y="1470325"/>
            <a:ext cx="9411600" cy="4433100"/>
          </a:xfrm>
          <a:prstGeom prst="rect">
            <a:avLst/>
          </a:prstGeom>
          <a:noFill/>
          <a:ln>
            <a:noFill/>
          </a:ln>
        </p:spPr>
        <p:txBody>
          <a:bodyPr spcFirstLastPara="1" wrap="square" lIns="0" tIns="0" rIns="0" bIns="0" anchor="t" anchorCtr="0">
            <a:spAutoFit/>
          </a:bodyPr>
          <a:lstStyle/>
          <a:p>
            <a:pPr marL="457200" lvl="0" indent="-381000" algn="l" rtl="0">
              <a:lnSpc>
                <a:spcPct val="100000"/>
              </a:lnSpc>
              <a:spcBef>
                <a:spcPts val="0"/>
              </a:spcBef>
              <a:spcAft>
                <a:spcPts val="0"/>
              </a:spcAft>
              <a:buSzPts val="2400"/>
              <a:buChar char="➢"/>
            </a:pPr>
            <a:r>
              <a:rPr lang="en-US" sz="2400">
                <a:latin typeface="Calibri"/>
                <a:ea typeface="Calibri"/>
                <a:cs typeface="Calibri"/>
                <a:sym typeface="Calibri"/>
              </a:rPr>
              <a:t>Objective of the Study</a:t>
            </a:r>
            <a:endParaRPr/>
          </a:p>
          <a:p>
            <a:pPr marL="457200" lvl="0" indent="-381000" algn="l" rtl="0">
              <a:lnSpc>
                <a:spcPct val="100000"/>
              </a:lnSpc>
              <a:spcBef>
                <a:spcPts val="0"/>
              </a:spcBef>
              <a:spcAft>
                <a:spcPts val="0"/>
              </a:spcAft>
              <a:buSzPts val="2400"/>
              <a:buChar char="➢"/>
            </a:pPr>
            <a:r>
              <a:rPr lang="en-US" sz="2400">
                <a:latin typeface="Calibri"/>
                <a:ea typeface="Calibri"/>
                <a:cs typeface="Calibri"/>
                <a:sym typeface="Calibri"/>
              </a:rPr>
              <a:t>Dataset Overview</a:t>
            </a:r>
            <a:endParaRPr/>
          </a:p>
          <a:p>
            <a:pPr marL="457200" lvl="0" indent="-381000" algn="l" rtl="0">
              <a:lnSpc>
                <a:spcPct val="100000"/>
              </a:lnSpc>
              <a:spcBef>
                <a:spcPts val="0"/>
              </a:spcBef>
              <a:spcAft>
                <a:spcPts val="0"/>
              </a:spcAft>
              <a:buSzPts val="2400"/>
              <a:buChar char="➢"/>
            </a:pPr>
            <a:r>
              <a:rPr lang="en-US" sz="2400">
                <a:latin typeface="Calibri"/>
                <a:ea typeface="Calibri"/>
                <a:cs typeface="Calibri"/>
                <a:sym typeface="Calibri"/>
              </a:rPr>
              <a:t>EDA</a:t>
            </a:r>
            <a:endParaRPr sz="2400">
              <a:latin typeface="Calibri"/>
              <a:ea typeface="Calibri"/>
              <a:cs typeface="Calibri"/>
              <a:sym typeface="Calibri"/>
            </a:endParaRPr>
          </a:p>
          <a:p>
            <a:pPr marL="457200" lvl="0" indent="-381000" algn="l" rtl="0">
              <a:lnSpc>
                <a:spcPct val="100000"/>
              </a:lnSpc>
              <a:spcBef>
                <a:spcPts val="0"/>
              </a:spcBef>
              <a:spcAft>
                <a:spcPts val="0"/>
              </a:spcAft>
              <a:buSzPts val="2400"/>
              <a:buFont typeface="Calibri"/>
              <a:buChar char="➢"/>
            </a:pPr>
            <a:r>
              <a:rPr lang="en-US" sz="2400">
                <a:latin typeface="Calibri"/>
                <a:ea typeface="Calibri"/>
                <a:cs typeface="Calibri"/>
                <a:sym typeface="Calibri"/>
              </a:rPr>
              <a:t>Architecture</a:t>
            </a:r>
            <a:endParaRPr sz="2400">
              <a:latin typeface="Calibri"/>
              <a:ea typeface="Calibri"/>
              <a:cs typeface="Calibri"/>
              <a:sym typeface="Calibri"/>
            </a:endParaRPr>
          </a:p>
          <a:p>
            <a:pPr marL="457200" lvl="0" indent="-381000" algn="l" rtl="0">
              <a:lnSpc>
                <a:spcPct val="100000"/>
              </a:lnSpc>
              <a:spcBef>
                <a:spcPts val="0"/>
              </a:spcBef>
              <a:spcAft>
                <a:spcPts val="0"/>
              </a:spcAft>
              <a:buSzPts val="2400"/>
              <a:buFont typeface="Calibri"/>
              <a:buChar char="➢"/>
            </a:pPr>
            <a:r>
              <a:rPr lang="en-US" sz="2400">
                <a:latin typeface="Calibri"/>
                <a:ea typeface="Calibri"/>
                <a:cs typeface="Calibri"/>
                <a:sym typeface="Calibri"/>
              </a:rPr>
              <a:t>Comparative Analysis of ML models before Pre-Processing</a:t>
            </a:r>
            <a:endParaRPr sz="2400">
              <a:latin typeface="Calibri"/>
              <a:ea typeface="Calibri"/>
              <a:cs typeface="Calibri"/>
              <a:sym typeface="Calibri"/>
            </a:endParaRPr>
          </a:p>
          <a:p>
            <a:pPr marL="457200" lvl="0" indent="-381000" algn="l" rtl="0">
              <a:lnSpc>
                <a:spcPct val="100000"/>
              </a:lnSpc>
              <a:spcBef>
                <a:spcPts val="0"/>
              </a:spcBef>
              <a:spcAft>
                <a:spcPts val="0"/>
              </a:spcAft>
              <a:buSzPts val="2400"/>
              <a:buFont typeface="Calibri"/>
              <a:buChar char="➢"/>
            </a:pPr>
            <a:r>
              <a:rPr lang="en-US" sz="2400">
                <a:latin typeface="Calibri"/>
                <a:ea typeface="Calibri"/>
                <a:cs typeface="Calibri"/>
                <a:sym typeface="Calibri"/>
              </a:rPr>
              <a:t>Data Cleaning and Preprocessing</a:t>
            </a:r>
            <a:endParaRPr sz="2400">
              <a:latin typeface="Calibri"/>
              <a:ea typeface="Calibri"/>
              <a:cs typeface="Calibri"/>
              <a:sym typeface="Calibri"/>
            </a:endParaRPr>
          </a:p>
          <a:p>
            <a:pPr marL="457200" lvl="0" indent="-381000" algn="l" rtl="0">
              <a:lnSpc>
                <a:spcPct val="100000"/>
              </a:lnSpc>
              <a:spcBef>
                <a:spcPts val="0"/>
              </a:spcBef>
              <a:spcAft>
                <a:spcPts val="0"/>
              </a:spcAft>
              <a:buSzPts val="2400"/>
              <a:buFont typeface="Calibri"/>
              <a:buChar char="➢"/>
            </a:pPr>
            <a:r>
              <a:rPr lang="en-US" sz="2400">
                <a:latin typeface="Calibri"/>
                <a:ea typeface="Calibri"/>
                <a:cs typeface="Calibri"/>
                <a:sym typeface="Calibri"/>
              </a:rPr>
              <a:t>Comparative Analysis of ML models after Pre-Processing</a:t>
            </a:r>
            <a:endParaRPr sz="2400">
              <a:latin typeface="Calibri"/>
              <a:ea typeface="Calibri"/>
              <a:cs typeface="Calibri"/>
              <a:sym typeface="Calibri"/>
            </a:endParaRPr>
          </a:p>
          <a:p>
            <a:pPr marL="457200" lvl="0" indent="-381000" algn="l" rtl="0">
              <a:lnSpc>
                <a:spcPct val="100000"/>
              </a:lnSpc>
              <a:spcBef>
                <a:spcPts val="0"/>
              </a:spcBef>
              <a:spcAft>
                <a:spcPts val="0"/>
              </a:spcAft>
              <a:buSzPts val="2400"/>
              <a:buFont typeface="Calibri"/>
              <a:buChar char="➢"/>
            </a:pPr>
            <a:r>
              <a:rPr lang="en-US" sz="2400">
                <a:latin typeface="Calibri"/>
                <a:ea typeface="Calibri"/>
                <a:cs typeface="Calibri"/>
                <a:sym typeface="Calibri"/>
              </a:rPr>
              <a:t>BERT</a:t>
            </a:r>
            <a:endParaRPr sz="2400">
              <a:latin typeface="Calibri"/>
              <a:ea typeface="Calibri"/>
              <a:cs typeface="Calibri"/>
              <a:sym typeface="Calibri"/>
            </a:endParaRPr>
          </a:p>
          <a:p>
            <a:pPr marL="457200" lvl="0" indent="-381000" algn="l" rtl="0">
              <a:lnSpc>
                <a:spcPct val="100000"/>
              </a:lnSpc>
              <a:spcBef>
                <a:spcPts val="0"/>
              </a:spcBef>
              <a:spcAft>
                <a:spcPts val="0"/>
              </a:spcAft>
              <a:buSzPts val="2400"/>
              <a:buFont typeface="Calibri"/>
              <a:buChar char="➢"/>
            </a:pPr>
            <a:r>
              <a:rPr lang="en-US" sz="2400">
                <a:latin typeface="Calibri"/>
                <a:ea typeface="Calibri"/>
                <a:cs typeface="Calibri"/>
                <a:sym typeface="Calibri"/>
              </a:rPr>
              <a:t>Label Imbalance and overfitting</a:t>
            </a:r>
            <a:endParaRPr sz="2400">
              <a:latin typeface="Calibri"/>
              <a:ea typeface="Calibri"/>
              <a:cs typeface="Calibri"/>
              <a:sym typeface="Calibri"/>
            </a:endParaRPr>
          </a:p>
          <a:p>
            <a:pPr marL="457200" lvl="0" indent="-381000" algn="l" rtl="0">
              <a:lnSpc>
                <a:spcPct val="100000"/>
              </a:lnSpc>
              <a:spcBef>
                <a:spcPts val="0"/>
              </a:spcBef>
              <a:spcAft>
                <a:spcPts val="0"/>
              </a:spcAft>
              <a:buSzPts val="2400"/>
              <a:buFont typeface="Calibri"/>
              <a:buChar char="➢"/>
            </a:pPr>
            <a:r>
              <a:rPr lang="en-US" sz="2400">
                <a:latin typeface="Calibri"/>
                <a:ea typeface="Calibri"/>
                <a:cs typeface="Calibri"/>
                <a:sym typeface="Calibri"/>
              </a:rPr>
              <a:t>Results</a:t>
            </a:r>
            <a:endParaRPr/>
          </a:p>
          <a:p>
            <a:pPr marL="457200" lvl="0" indent="-381000" algn="l" rtl="0">
              <a:lnSpc>
                <a:spcPct val="100000"/>
              </a:lnSpc>
              <a:spcBef>
                <a:spcPts val="0"/>
              </a:spcBef>
              <a:spcAft>
                <a:spcPts val="0"/>
              </a:spcAft>
              <a:buSzPts val="2400"/>
              <a:buChar char="➢"/>
            </a:pPr>
            <a:r>
              <a:rPr lang="en-US" sz="2400">
                <a:latin typeface="Calibri"/>
                <a:ea typeface="Calibri"/>
                <a:cs typeface="Calibri"/>
                <a:sym typeface="Calibri"/>
              </a:rPr>
              <a:t>Conclusion</a:t>
            </a:r>
            <a:endParaRPr sz="2400">
              <a:latin typeface="Calibri"/>
              <a:ea typeface="Calibri"/>
              <a:cs typeface="Calibri"/>
              <a:sym typeface="Calibri"/>
            </a:endParaRPr>
          </a:p>
          <a:p>
            <a:pPr marL="457200" lvl="0" indent="-381000" algn="l" rtl="0">
              <a:lnSpc>
                <a:spcPct val="100000"/>
              </a:lnSpc>
              <a:spcBef>
                <a:spcPts val="0"/>
              </a:spcBef>
              <a:spcAft>
                <a:spcPts val="0"/>
              </a:spcAft>
              <a:buSzPts val="2400"/>
              <a:buFont typeface="Calibri"/>
              <a:buChar char="➢"/>
            </a:pPr>
            <a:r>
              <a:rPr lang="en-US" sz="2400">
                <a:latin typeface="Calibri"/>
                <a:ea typeface="Calibri"/>
                <a:cs typeface="Calibri"/>
                <a:sym typeface="Calibri"/>
              </a:rPr>
              <a:t>References</a:t>
            </a:r>
            <a:endParaRPr sz="2400">
              <a:latin typeface="Calibri"/>
              <a:ea typeface="Calibri"/>
              <a:cs typeface="Calibri"/>
              <a:sym typeface="Calibri"/>
            </a:endParaRPr>
          </a:p>
        </p:txBody>
      </p:sp>
      <p:sp>
        <p:nvSpPr>
          <p:cNvPr id="59" name="Google Shape;59;g26e603d10e7_0_10"/>
          <p:cNvSpPr txBox="1">
            <a:spLocks noGrp="1"/>
          </p:cNvSpPr>
          <p:nvPr>
            <p:ph type="sldNum" idx="12"/>
          </p:nvPr>
        </p:nvSpPr>
        <p:spPr>
          <a:xfrm>
            <a:off x="11055985" y="6444999"/>
            <a:ext cx="258445" cy="196215"/>
          </a:xfrm>
          <a:prstGeom prst="rect">
            <a:avLst/>
          </a:prstGeom>
          <a:noFill/>
          <a:ln>
            <a:noFill/>
          </a:ln>
        </p:spPr>
        <p:txBody>
          <a:bodyPr spcFirstLastPara="1" wrap="square" lIns="0" tIns="0" rIns="0" bIns="0" anchor="t" anchorCtr="0">
            <a:spAutoFit/>
          </a:bodyPr>
          <a:lstStyle/>
          <a:p>
            <a:pPr marL="38100" lvl="0" indent="0" algn="l" rtl="0">
              <a:lnSpc>
                <a:spcPct val="11875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63"/>
        <p:cNvGrpSpPr/>
        <p:nvPr/>
      </p:nvGrpSpPr>
      <p:grpSpPr>
        <a:xfrm>
          <a:off x="0" y="0"/>
          <a:ext cx="0" cy="0"/>
          <a:chOff x="0" y="0"/>
          <a:chExt cx="0" cy="0"/>
        </a:xfrm>
      </p:grpSpPr>
      <p:grpSp>
        <p:nvGrpSpPr>
          <p:cNvPr id="64" name="Google Shape;64;p2"/>
          <p:cNvGrpSpPr/>
          <p:nvPr/>
        </p:nvGrpSpPr>
        <p:grpSpPr>
          <a:xfrm>
            <a:off x="0" y="0"/>
            <a:ext cx="12192000" cy="6858000"/>
            <a:chOff x="0" y="0"/>
            <a:chExt cx="12192000" cy="6858000"/>
          </a:xfrm>
        </p:grpSpPr>
        <p:pic>
          <p:nvPicPr>
            <p:cNvPr id="65" name="Google Shape;65;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66" name="Google Shape;66;p2"/>
            <p:cNvPicPr preferRelativeResize="0"/>
            <p:nvPr/>
          </p:nvPicPr>
          <p:blipFill rotWithShape="1">
            <a:blip r:embed="rId4">
              <a:alphaModFix/>
            </a:blip>
            <a:srcRect/>
            <a:stretch/>
          </p:blipFill>
          <p:spPr>
            <a:xfrm>
              <a:off x="11099800" y="279399"/>
              <a:ext cx="529473" cy="764795"/>
            </a:xfrm>
            <a:prstGeom prst="rect">
              <a:avLst/>
            </a:prstGeom>
            <a:noFill/>
            <a:ln>
              <a:noFill/>
            </a:ln>
          </p:spPr>
        </p:pic>
        <p:sp>
          <p:nvSpPr>
            <p:cNvPr id="67" name="Google Shape;67;p2"/>
            <p:cNvSpPr/>
            <p:nvPr/>
          </p:nvSpPr>
          <p:spPr>
            <a:xfrm>
              <a:off x="1390650" y="1832610"/>
              <a:ext cx="95250" cy="3192780"/>
            </a:xfrm>
            <a:custGeom>
              <a:avLst/>
              <a:gdLst/>
              <a:ahLst/>
              <a:cxnLst/>
              <a:rect l="l" t="t" r="r" b="b"/>
              <a:pathLst>
                <a:path w="95250" h="3192779" extrusionOk="0">
                  <a:moveTo>
                    <a:pt x="95250" y="3192780"/>
                  </a:moveTo>
                  <a:lnTo>
                    <a:pt x="0" y="3192780"/>
                  </a:lnTo>
                  <a:lnTo>
                    <a:pt x="0" y="0"/>
                  </a:lnTo>
                  <a:lnTo>
                    <a:pt x="95250" y="0"/>
                  </a:lnTo>
                  <a:lnTo>
                    <a:pt x="95250" y="3192780"/>
                  </a:lnTo>
                  <a:close/>
                </a:path>
              </a:pathLst>
            </a:custGeom>
            <a:solidFill>
              <a:srgbClr val="FF5F0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68" name="Google Shape;68;p2"/>
          <p:cNvSpPr txBox="1">
            <a:spLocks noGrp="1"/>
          </p:cNvSpPr>
          <p:nvPr>
            <p:ph type="title"/>
          </p:nvPr>
        </p:nvSpPr>
        <p:spPr>
          <a:xfrm>
            <a:off x="1706282" y="2016901"/>
            <a:ext cx="2142490"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000">
                <a:solidFill>
                  <a:srgbClr val="FFFFFF"/>
                </a:solidFill>
                <a:latin typeface="Calibri"/>
                <a:ea typeface="Calibri"/>
                <a:cs typeface="Calibri"/>
                <a:sym typeface="Calibri"/>
              </a:rPr>
              <a:t>Objective</a:t>
            </a:r>
            <a:endParaRPr sz="4000">
              <a:latin typeface="Calibri"/>
              <a:ea typeface="Calibri"/>
              <a:cs typeface="Calibri"/>
              <a:sym typeface="Calibri"/>
            </a:endParaRPr>
          </a:p>
        </p:txBody>
      </p:sp>
      <p:sp>
        <p:nvSpPr>
          <p:cNvPr id="69" name="Google Shape;69;p2"/>
          <p:cNvSpPr txBox="1">
            <a:spLocks noGrp="1"/>
          </p:cNvSpPr>
          <p:nvPr>
            <p:ph type="body" idx="1"/>
          </p:nvPr>
        </p:nvSpPr>
        <p:spPr>
          <a:xfrm>
            <a:off x="1706282" y="2811464"/>
            <a:ext cx="9229200" cy="1120820"/>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SzPts val="1400"/>
              <a:buNone/>
            </a:pPr>
            <a:r>
              <a:rPr lang="en-US" b="0" i="0" u="none" strike="noStrike">
                <a:solidFill>
                  <a:schemeClr val="lt1"/>
                </a:solidFill>
                <a:latin typeface="Calibri"/>
                <a:ea typeface="Calibri"/>
                <a:cs typeface="Calibri"/>
                <a:sym typeface="Calibri"/>
              </a:rPr>
              <a:t>To automate the categorization of research articles into relevant topics using advanced text mining techniques, aiming to improve the accuracy and accessibility of academic publication classification.</a:t>
            </a:r>
            <a:endParaRPr>
              <a:solidFill>
                <a:schemeClr val="lt1"/>
              </a:solidFill>
              <a:latin typeface="Calibri"/>
              <a:ea typeface="Calibri"/>
              <a:cs typeface="Calibri"/>
              <a:sym typeface="Calibri"/>
            </a:endParaRPr>
          </a:p>
        </p:txBody>
      </p:sp>
      <p:sp>
        <p:nvSpPr>
          <p:cNvPr id="70" name="Google Shape;70;p2"/>
          <p:cNvSpPr txBox="1">
            <a:spLocks noGrp="1"/>
          </p:cNvSpPr>
          <p:nvPr>
            <p:ph type="sldNum" idx="12"/>
          </p:nvPr>
        </p:nvSpPr>
        <p:spPr>
          <a:xfrm>
            <a:off x="11055985" y="6444999"/>
            <a:ext cx="258445" cy="196215"/>
          </a:xfrm>
          <a:prstGeom prst="rect">
            <a:avLst/>
          </a:prstGeom>
          <a:noFill/>
          <a:ln>
            <a:noFill/>
          </a:ln>
        </p:spPr>
        <p:txBody>
          <a:bodyPr spcFirstLastPara="1" wrap="square" lIns="0" tIns="0" rIns="0" bIns="0" anchor="t" anchorCtr="0">
            <a:spAutoFit/>
          </a:bodyPr>
          <a:lstStyle/>
          <a:p>
            <a:pPr marL="121920" lvl="0" indent="0" algn="l" rtl="0">
              <a:lnSpc>
                <a:spcPct val="11875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5"/>
          <p:cNvSpPr txBox="1">
            <a:spLocks noGrp="1"/>
          </p:cNvSpPr>
          <p:nvPr>
            <p:ph type="title"/>
          </p:nvPr>
        </p:nvSpPr>
        <p:spPr>
          <a:xfrm>
            <a:off x="732968" y="604947"/>
            <a:ext cx="5239500" cy="56682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3600">
                <a:latin typeface="Calibri"/>
                <a:ea typeface="Calibri"/>
                <a:cs typeface="Calibri"/>
                <a:sym typeface="Calibri"/>
              </a:rPr>
              <a:t>   Dataset Overview</a:t>
            </a:r>
            <a:endParaRPr/>
          </a:p>
        </p:txBody>
      </p:sp>
      <p:sp>
        <p:nvSpPr>
          <p:cNvPr id="76" name="Google Shape;76;p5"/>
          <p:cNvSpPr txBox="1">
            <a:spLocks noGrp="1"/>
          </p:cNvSpPr>
          <p:nvPr>
            <p:ph type="sldNum" idx="12"/>
          </p:nvPr>
        </p:nvSpPr>
        <p:spPr>
          <a:xfrm>
            <a:off x="11055985" y="6444999"/>
            <a:ext cx="258445" cy="196215"/>
          </a:xfrm>
          <a:prstGeom prst="rect">
            <a:avLst/>
          </a:prstGeom>
          <a:noFill/>
          <a:ln>
            <a:noFill/>
          </a:ln>
        </p:spPr>
        <p:txBody>
          <a:bodyPr spcFirstLastPara="1" wrap="square" lIns="0" tIns="0" rIns="0" bIns="0" anchor="t" anchorCtr="0">
            <a:spAutoFit/>
          </a:bodyPr>
          <a:lstStyle/>
          <a:p>
            <a:pPr marL="121920" lvl="0" indent="0" algn="l" rtl="0">
              <a:lnSpc>
                <a:spcPct val="118750"/>
              </a:lnSpc>
              <a:spcBef>
                <a:spcPts val="0"/>
              </a:spcBef>
              <a:spcAft>
                <a:spcPts val="0"/>
              </a:spcAft>
              <a:buSzPts val="1200"/>
              <a:buNone/>
            </a:pPr>
            <a:fld id="{00000000-1234-1234-1234-123412341234}" type="slidenum">
              <a:rPr lang="en-US"/>
              <a:t>4</a:t>
            </a:fld>
            <a:endParaRPr/>
          </a:p>
        </p:txBody>
      </p:sp>
      <p:sp>
        <p:nvSpPr>
          <p:cNvPr id="77" name="Google Shape;77;p5"/>
          <p:cNvSpPr txBox="1"/>
          <p:nvPr/>
        </p:nvSpPr>
        <p:spPr>
          <a:xfrm>
            <a:off x="842188" y="1687318"/>
            <a:ext cx="10824300" cy="378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a:latin typeface="Calibri"/>
                <a:ea typeface="Calibri"/>
                <a:cs typeface="Calibri"/>
                <a:sym typeface="Calibri"/>
              </a:rPr>
              <a:t>Name</a:t>
            </a:r>
            <a:r>
              <a:rPr lang="en-US" sz="2400" b="1" i="0" u="none" strike="noStrike" cap="none">
                <a:solidFill>
                  <a:srgbClr val="000000"/>
                </a:solidFill>
                <a:latin typeface="Calibri"/>
                <a:ea typeface="Calibri"/>
                <a:cs typeface="Calibri"/>
                <a:sym typeface="Calibri"/>
              </a:rPr>
              <a:t>		       </a:t>
            </a:r>
            <a:r>
              <a:rPr lang="en-US" sz="2400" b="0" i="0" u="none" strike="noStrike" cap="none">
                <a:solidFill>
                  <a:srgbClr val="000000"/>
                </a:solidFill>
                <a:latin typeface="Calibri"/>
                <a:ea typeface="Calibri"/>
                <a:cs typeface="Calibri"/>
                <a:sym typeface="Calibri"/>
              </a:rPr>
              <a:t>:</a:t>
            </a:r>
            <a:r>
              <a:rPr lang="en-US" sz="2400" b="1" i="0" u="none" strike="noStrike" cap="none">
                <a:solidFill>
                  <a:srgbClr val="000000"/>
                </a:solidFill>
                <a:latin typeface="Calibri"/>
                <a:ea typeface="Calibri"/>
                <a:cs typeface="Calibri"/>
                <a:sym typeface="Calibri"/>
              </a:rPr>
              <a:t> </a:t>
            </a:r>
            <a:r>
              <a:rPr lang="en-US" sz="2400" b="0" i="0" u="none" strike="noStrike" cap="none">
                <a:solidFill>
                  <a:srgbClr val="000000"/>
                </a:solidFill>
                <a:latin typeface="Calibri"/>
                <a:ea typeface="Calibri"/>
                <a:cs typeface="Calibri"/>
                <a:sym typeface="Calibri"/>
              </a:rPr>
              <a:t>Multi-Label Classification Dataset for Academic Articles</a:t>
            </a:r>
            <a:endParaRPr/>
          </a:p>
          <a:p>
            <a:pPr marL="0" marR="0" lvl="0" indent="0" algn="l" rtl="0">
              <a:lnSpc>
                <a:spcPct val="100000"/>
              </a:lnSpc>
              <a:spcBef>
                <a:spcPts val="0"/>
              </a:spcBef>
              <a:spcAft>
                <a:spcPts val="0"/>
              </a:spcAft>
              <a:buNone/>
            </a:pP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US" sz="2400" b="1" i="0" u="none" strike="noStrike" cap="none">
                <a:solidFill>
                  <a:srgbClr val="000000"/>
                </a:solidFill>
                <a:latin typeface="Calibri"/>
                <a:ea typeface="Calibri"/>
                <a:cs typeface="Calibri"/>
                <a:sym typeface="Calibri"/>
              </a:rPr>
              <a:t>Features	       </a:t>
            </a:r>
            <a:r>
              <a:rPr lang="en-US" sz="2400" b="0" i="0" u="none" strike="noStrike" cap="none">
                <a:solidFill>
                  <a:srgbClr val="000000"/>
                </a:solidFill>
                <a:latin typeface="Calibri"/>
                <a:ea typeface="Calibri"/>
                <a:cs typeface="Calibri"/>
                <a:sym typeface="Calibri"/>
              </a:rPr>
              <a:t>: ID, Title, Abstract</a:t>
            </a:r>
            <a:endParaRPr/>
          </a:p>
          <a:p>
            <a:pPr marL="0" marR="0" lvl="0" indent="0" algn="l" rtl="0">
              <a:lnSpc>
                <a:spcPct val="100000"/>
              </a:lnSpc>
              <a:spcBef>
                <a:spcPts val="0"/>
              </a:spcBef>
              <a:spcAft>
                <a:spcPts val="0"/>
              </a:spcAft>
              <a:buNone/>
            </a:pP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US" sz="2400" b="1" i="0" u="none" strike="noStrike" cap="none">
                <a:solidFill>
                  <a:srgbClr val="000000"/>
                </a:solidFill>
                <a:latin typeface="Calibri"/>
                <a:ea typeface="Calibri"/>
                <a:cs typeface="Calibri"/>
                <a:sym typeface="Calibri"/>
              </a:rPr>
              <a:t>Labels		       </a:t>
            </a:r>
            <a:r>
              <a:rPr lang="en-US" sz="2400" b="0" i="0" u="none" strike="noStrike" cap="none">
                <a:solidFill>
                  <a:srgbClr val="000000"/>
                </a:solidFill>
                <a:latin typeface="Calibri"/>
                <a:ea typeface="Calibri"/>
                <a:cs typeface="Calibri"/>
                <a:sym typeface="Calibri"/>
              </a:rPr>
              <a:t>: Computer Science, Physics, Mathematics, Statistics</a:t>
            </a:r>
            <a:r>
              <a:rPr lang="en-US" sz="2400">
                <a:latin typeface="Calibri"/>
                <a:ea typeface="Calibri"/>
                <a:cs typeface="Calibri"/>
                <a:sym typeface="Calibri"/>
              </a:rPr>
              <a:t>, </a:t>
            </a:r>
            <a:r>
              <a:rPr lang="en-US" sz="2400" b="0" i="0" u="none" strike="noStrike" cap="none">
                <a:solidFill>
                  <a:srgbClr val="000000"/>
                </a:solidFill>
                <a:latin typeface="Calibri"/>
                <a:ea typeface="Calibri"/>
                <a:cs typeface="Calibri"/>
                <a:sym typeface="Calibri"/>
              </a:rPr>
              <a:t>Quantitative Biology, Quantitative Finance</a:t>
            </a:r>
            <a:endParaRPr/>
          </a:p>
          <a:p>
            <a:pPr marL="0" marR="0" lvl="0" indent="0" algn="l" rtl="0">
              <a:lnSpc>
                <a:spcPct val="100000"/>
              </a:lnSpc>
              <a:spcBef>
                <a:spcPts val="0"/>
              </a:spcBef>
              <a:spcAft>
                <a:spcPts val="0"/>
              </a:spcAft>
              <a:buNone/>
            </a:pP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US" sz="2400" b="1" i="0" u="none" strike="noStrike" cap="none">
                <a:solidFill>
                  <a:srgbClr val="000000"/>
                </a:solidFill>
                <a:latin typeface="Calibri"/>
                <a:ea typeface="Calibri"/>
                <a:cs typeface="Calibri"/>
                <a:sym typeface="Calibri"/>
              </a:rPr>
              <a:t>Total entries    </a:t>
            </a:r>
            <a:r>
              <a:rPr lang="en-US" sz="2400" b="0" i="0" u="none" strike="noStrike" cap="none">
                <a:solidFill>
                  <a:srgbClr val="000000"/>
                </a:solidFill>
                <a:latin typeface="Calibri"/>
                <a:ea typeface="Calibri"/>
                <a:cs typeface="Calibri"/>
                <a:sym typeface="Calibri"/>
              </a:rPr>
              <a:t>:</a:t>
            </a:r>
            <a:r>
              <a:rPr lang="en-US" sz="2400" b="1" i="0" u="none" strike="noStrike" cap="none">
                <a:solidFill>
                  <a:srgbClr val="000000"/>
                </a:solidFill>
                <a:latin typeface="Calibri"/>
                <a:ea typeface="Calibri"/>
                <a:cs typeface="Calibri"/>
                <a:sym typeface="Calibri"/>
              </a:rPr>
              <a:t> </a:t>
            </a:r>
            <a:r>
              <a:rPr lang="en-US" sz="2400" b="0" i="0" u="none" strike="noStrike" cap="none">
                <a:solidFill>
                  <a:srgbClr val="000000"/>
                </a:solidFill>
                <a:latin typeface="Calibri"/>
                <a:ea typeface="Calibri"/>
                <a:cs typeface="Calibri"/>
                <a:sym typeface="Calibri"/>
              </a:rPr>
              <a:t>20,972 research articles</a:t>
            </a: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g31efdc8c695_1_12"/>
          <p:cNvSpPr txBox="1">
            <a:spLocks noGrp="1"/>
          </p:cNvSpPr>
          <p:nvPr>
            <p:ph type="title"/>
          </p:nvPr>
        </p:nvSpPr>
        <p:spPr>
          <a:xfrm>
            <a:off x="732968" y="604947"/>
            <a:ext cx="5239500" cy="4926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Dataset Example</a:t>
            </a:r>
            <a:endParaRPr/>
          </a:p>
        </p:txBody>
      </p:sp>
      <p:sp>
        <p:nvSpPr>
          <p:cNvPr id="83" name="Google Shape;83;g31efdc8c695_1_12"/>
          <p:cNvSpPr txBox="1">
            <a:spLocks noGrp="1"/>
          </p:cNvSpPr>
          <p:nvPr>
            <p:ph type="body" idx="1"/>
          </p:nvPr>
        </p:nvSpPr>
        <p:spPr>
          <a:xfrm>
            <a:off x="1706282" y="2811464"/>
            <a:ext cx="92292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pic>
        <p:nvPicPr>
          <p:cNvPr id="84" name="Google Shape;84;g31efdc8c695_1_12"/>
          <p:cNvPicPr preferRelativeResize="0"/>
          <p:nvPr/>
        </p:nvPicPr>
        <p:blipFill>
          <a:blip r:embed="rId3">
            <a:alphaModFix/>
          </a:blip>
          <a:stretch>
            <a:fillRect/>
          </a:stretch>
        </p:blipFill>
        <p:spPr>
          <a:xfrm>
            <a:off x="732975" y="1242500"/>
            <a:ext cx="10140626" cy="4728875"/>
          </a:xfrm>
          <a:prstGeom prst="rect">
            <a:avLst/>
          </a:prstGeom>
          <a:noFill/>
          <a:ln>
            <a:noFill/>
          </a:ln>
        </p:spPr>
      </p:pic>
      <p:sp>
        <p:nvSpPr>
          <p:cNvPr id="85" name="Google Shape;85;g31efdc8c695_1_12"/>
          <p:cNvSpPr txBox="1"/>
          <p:nvPr/>
        </p:nvSpPr>
        <p:spPr>
          <a:xfrm>
            <a:off x="11055985" y="6444999"/>
            <a:ext cx="258300" cy="184800"/>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5</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3"/>
          <p:cNvSpPr txBox="1">
            <a:spLocks noGrp="1"/>
          </p:cNvSpPr>
          <p:nvPr>
            <p:ph type="title"/>
          </p:nvPr>
        </p:nvSpPr>
        <p:spPr>
          <a:xfrm>
            <a:off x="732976" y="604950"/>
            <a:ext cx="6270900" cy="505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   </a:t>
            </a:r>
            <a:r>
              <a:rPr lang="en-US">
                <a:latin typeface="Calibri"/>
                <a:ea typeface="Calibri"/>
                <a:cs typeface="Calibri"/>
                <a:sym typeface="Calibri"/>
              </a:rPr>
              <a:t>EDA</a:t>
            </a:r>
            <a:endParaRPr/>
          </a:p>
        </p:txBody>
      </p:sp>
      <p:sp>
        <p:nvSpPr>
          <p:cNvPr id="91" name="Google Shape;91;p3"/>
          <p:cNvSpPr txBox="1">
            <a:spLocks noGrp="1"/>
          </p:cNvSpPr>
          <p:nvPr>
            <p:ph type="sldNum" idx="12"/>
          </p:nvPr>
        </p:nvSpPr>
        <p:spPr>
          <a:xfrm>
            <a:off x="11055985" y="6444999"/>
            <a:ext cx="258445" cy="196215"/>
          </a:xfrm>
          <a:prstGeom prst="rect">
            <a:avLst/>
          </a:prstGeom>
          <a:noFill/>
          <a:ln>
            <a:noFill/>
          </a:ln>
        </p:spPr>
        <p:txBody>
          <a:bodyPr spcFirstLastPara="1" wrap="square" lIns="0" tIns="0" rIns="0" bIns="0" anchor="t" anchorCtr="0">
            <a:spAutoFit/>
          </a:bodyPr>
          <a:lstStyle/>
          <a:p>
            <a:pPr marL="38100" lvl="0" indent="0" algn="l" rtl="0">
              <a:lnSpc>
                <a:spcPct val="118750"/>
              </a:lnSpc>
              <a:spcBef>
                <a:spcPts val="0"/>
              </a:spcBef>
              <a:spcAft>
                <a:spcPts val="0"/>
              </a:spcAft>
              <a:buSzPts val="1200"/>
              <a:buNone/>
            </a:pPr>
            <a:fld id="{00000000-1234-1234-1234-123412341234}" type="slidenum">
              <a:rPr lang="en-US"/>
              <a:t>6</a:t>
            </a:fld>
            <a:endParaRPr/>
          </a:p>
        </p:txBody>
      </p:sp>
      <p:pic>
        <p:nvPicPr>
          <p:cNvPr id="92" name="Google Shape;92;p3" descr="A graph of a number of columns&#10;&#10;Description automatically generated"/>
          <p:cNvPicPr preferRelativeResize="0"/>
          <p:nvPr/>
        </p:nvPicPr>
        <p:blipFill rotWithShape="1">
          <a:blip r:embed="rId3">
            <a:alphaModFix/>
          </a:blip>
          <a:srcRect/>
          <a:stretch/>
        </p:blipFill>
        <p:spPr>
          <a:xfrm>
            <a:off x="732974" y="1262850"/>
            <a:ext cx="5744852" cy="4200650"/>
          </a:xfrm>
          <a:prstGeom prst="rect">
            <a:avLst/>
          </a:prstGeom>
          <a:noFill/>
          <a:ln>
            <a:noFill/>
          </a:ln>
        </p:spPr>
      </p:pic>
      <p:pic>
        <p:nvPicPr>
          <p:cNvPr id="93" name="Google Shape;93;p3"/>
          <p:cNvPicPr preferRelativeResize="0"/>
          <p:nvPr/>
        </p:nvPicPr>
        <p:blipFill rotWithShape="1">
          <a:blip r:embed="rId4">
            <a:alphaModFix/>
          </a:blip>
          <a:srcRect t="-1970" b="1970"/>
          <a:stretch/>
        </p:blipFill>
        <p:spPr>
          <a:xfrm>
            <a:off x="6675275" y="1110450"/>
            <a:ext cx="5364325" cy="382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7"/>
          <p:cNvSpPr txBox="1">
            <a:spLocks noGrp="1"/>
          </p:cNvSpPr>
          <p:nvPr>
            <p:ph type="title"/>
          </p:nvPr>
        </p:nvSpPr>
        <p:spPr>
          <a:xfrm>
            <a:off x="732968" y="604947"/>
            <a:ext cx="5239500" cy="505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   </a:t>
            </a:r>
            <a:r>
              <a:rPr lang="en-US">
                <a:latin typeface="Calibri"/>
                <a:ea typeface="Calibri"/>
                <a:cs typeface="Calibri"/>
                <a:sym typeface="Calibri"/>
              </a:rPr>
              <a:t>Architecture</a:t>
            </a:r>
            <a:endParaRPr/>
          </a:p>
        </p:txBody>
      </p:sp>
      <p:sp>
        <p:nvSpPr>
          <p:cNvPr id="99" name="Google Shape;99;p7"/>
          <p:cNvSpPr txBox="1">
            <a:spLocks noGrp="1"/>
          </p:cNvSpPr>
          <p:nvPr>
            <p:ph type="sldNum" idx="12"/>
          </p:nvPr>
        </p:nvSpPr>
        <p:spPr>
          <a:xfrm>
            <a:off x="11055985" y="6444999"/>
            <a:ext cx="258445" cy="196215"/>
          </a:xfrm>
          <a:prstGeom prst="rect">
            <a:avLst/>
          </a:prstGeom>
          <a:noFill/>
          <a:ln>
            <a:noFill/>
          </a:ln>
        </p:spPr>
        <p:txBody>
          <a:bodyPr spcFirstLastPara="1" wrap="square" lIns="0" tIns="0" rIns="0" bIns="0" anchor="t" anchorCtr="0">
            <a:spAutoFit/>
          </a:bodyPr>
          <a:lstStyle/>
          <a:p>
            <a:pPr marL="38100" lvl="0" indent="0" algn="l" rtl="0">
              <a:lnSpc>
                <a:spcPct val="118750"/>
              </a:lnSpc>
              <a:spcBef>
                <a:spcPts val="0"/>
              </a:spcBef>
              <a:spcAft>
                <a:spcPts val="0"/>
              </a:spcAft>
              <a:buSzPts val="1200"/>
              <a:buNone/>
            </a:pPr>
            <a:fld id="{00000000-1234-1234-1234-123412341234}" type="slidenum">
              <a:rPr lang="en-US"/>
              <a:t>7</a:t>
            </a:fld>
            <a:endParaRPr/>
          </a:p>
        </p:txBody>
      </p:sp>
      <p:pic>
        <p:nvPicPr>
          <p:cNvPr id="100" name="Google Shape;100;p7"/>
          <p:cNvPicPr preferRelativeResize="0"/>
          <p:nvPr/>
        </p:nvPicPr>
        <p:blipFill rotWithShape="1">
          <a:blip r:embed="rId3">
            <a:alphaModFix/>
          </a:blip>
          <a:srcRect/>
          <a:stretch/>
        </p:blipFill>
        <p:spPr>
          <a:xfrm>
            <a:off x="396300" y="1874974"/>
            <a:ext cx="11399399" cy="36539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31efdc8c695_1_75"/>
          <p:cNvSpPr txBox="1">
            <a:spLocks noGrp="1"/>
          </p:cNvSpPr>
          <p:nvPr>
            <p:ph type="title"/>
          </p:nvPr>
        </p:nvSpPr>
        <p:spPr>
          <a:xfrm>
            <a:off x="732968" y="604947"/>
            <a:ext cx="5239500" cy="4926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Binary Relevance</a:t>
            </a:r>
            <a:endParaRPr/>
          </a:p>
        </p:txBody>
      </p:sp>
      <p:pic>
        <p:nvPicPr>
          <p:cNvPr id="107" name="Google Shape;107;g31efdc8c695_1_75"/>
          <p:cNvPicPr preferRelativeResize="0"/>
          <p:nvPr/>
        </p:nvPicPr>
        <p:blipFill>
          <a:blip r:embed="rId3">
            <a:alphaModFix/>
          </a:blip>
          <a:stretch>
            <a:fillRect/>
          </a:stretch>
        </p:blipFill>
        <p:spPr>
          <a:xfrm>
            <a:off x="1346175" y="1742776"/>
            <a:ext cx="2449788" cy="3372436"/>
          </a:xfrm>
          <a:prstGeom prst="rect">
            <a:avLst/>
          </a:prstGeom>
          <a:noFill/>
          <a:ln>
            <a:noFill/>
          </a:ln>
        </p:spPr>
      </p:pic>
      <p:pic>
        <p:nvPicPr>
          <p:cNvPr id="108" name="Google Shape;108;g31efdc8c695_1_75"/>
          <p:cNvPicPr preferRelativeResize="0"/>
          <p:nvPr/>
        </p:nvPicPr>
        <p:blipFill>
          <a:blip r:embed="rId4">
            <a:alphaModFix/>
          </a:blip>
          <a:stretch>
            <a:fillRect/>
          </a:stretch>
        </p:blipFill>
        <p:spPr>
          <a:xfrm>
            <a:off x="6280563" y="1742776"/>
            <a:ext cx="4654912" cy="3372436"/>
          </a:xfrm>
          <a:prstGeom prst="rect">
            <a:avLst/>
          </a:prstGeom>
          <a:noFill/>
          <a:ln>
            <a:noFill/>
          </a:ln>
        </p:spPr>
      </p:pic>
      <p:sp>
        <p:nvSpPr>
          <p:cNvPr id="109" name="Google Shape;109;g31efdc8c695_1_75"/>
          <p:cNvSpPr/>
          <p:nvPr/>
        </p:nvSpPr>
        <p:spPr>
          <a:xfrm>
            <a:off x="4031475" y="3260100"/>
            <a:ext cx="2013600" cy="337800"/>
          </a:xfrm>
          <a:prstGeom prst="rightArrow">
            <a:avLst>
              <a:gd name="adj1" fmla="val 50000"/>
              <a:gd name="adj2" fmla="val 50000"/>
            </a:avLst>
          </a:prstGeom>
          <a:solidFill>
            <a:schemeClr val="accent6"/>
          </a:solidFill>
          <a:ln w="25400" cap="flat" cmpd="sng">
            <a:solidFill>
              <a:srgbClr val="683F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0" name="Google Shape;110;g31efdc8c695_1_75"/>
          <p:cNvSpPr txBox="1"/>
          <p:nvPr/>
        </p:nvSpPr>
        <p:spPr>
          <a:xfrm>
            <a:off x="11055985" y="6444999"/>
            <a:ext cx="258300" cy="184800"/>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8</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g31efdc8c695_1_83"/>
          <p:cNvSpPr txBox="1">
            <a:spLocks noGrp="1"/>
          </p:cNvSpPr>
          <p:nvPr>
            <p:ph type="title"/>
          </p:nvPr>
        </p:nvSpPr>
        <p:spPr>
          <a:xfrm>
            <a:off x="732968" y="604947"/>
            <a:ext cx="5239500" cy="4926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Classifier Chains</a:t>
            </a:r>
            <a:endParaRPr/>
          </a:p>
        </p:txBody>
      </p:sp>
      <p:pic>
        <p:nvPicPr>
          <p:cNvPr id="117" name="Google Shape;117;g31efdc8c695_1_83"/>
          <p:cNvPicPr preferRelativeResize="0"/>
          <p:nvPr/>
        </p:nvPicPr>
        <p:blipFill>
          <a:blip r:embed="rId3">
            <a:alphaModFix/>
          </a:blip>
          <a:stretch>
            <a:fillRect/>
          </a:stretch>
        </p:blipFill>
        <p:spPr>
          <a:xfrm>
            <a:off x="4619425" y="1847075"/>
            <a:ext cx="7098876" cy="3372425"/>
          </a:xfrm>
          <a:prstGeom prst="rect">
            <a:avLst/>
          </a:prstGeom>
          <a:noFill/>
          <a:ln>
            <a:noFill/>
          </a:ln>
        </p:spPr>
      </p:pic>
      <p:pic>
        <p:nvPicPr>
          <p:cNvPr id="118" name="Google Shape;118;g31efdc8c695_1_83"/>
          <p:cNvPicPr preferRelativeResize="0"/>
          <p:nvPr/>
        </p:nvPicPr>
        <p:blipFill>
          <a:blip r:embed="rId4">
            <a:alphaModFix/>
          </a:blip>
          <a:stretch>
            <a:fillRect/>
          </a:stretch>
        </p:blipFill>
        <p:spPr>
          <a:xfrm>
            <a:off x="732975" y="1847076"/>
            <a:ext cx="2449788" cy="3372436"/>
          </a:xfrm>
          <a:prstGeom prst="rect">
            <a:avLst/>
          </a:prstGeom>
          <a:noFill/>
          <a:ln>
            <a:noFill/>
          </a:ln>
        </p:spPr>
      </p:pic>
      <p:sp>
        <p:nvSpPr>
          <p:cNvPr id="119" name="Google Shape;119;g31efdc8c695_1_83"/>
          <p:cNvSpPr/>
          <p:nvPr/>
        </p:nvSpPr>
        <p:spPr>
          <a:xfrm>
            <a:off x="3319400" y="3260100"/>
            <a:ext cx="1163400" cy="337800"/>
          </a:xfrm>
          <a:prstGeom prst="rightArrow">
            <a:avLst>
              <a:gd name="adj1" fmla="val 50000"/>
              <a:gd name="adj2" fmla="val 50000"/>
            </a:avLst>
          </a:prstGeom>
          <a:solidFill>
            <a:schemeClr val="accent6"/>
          </a:solidFill>
          <a:ln w="25400" cap="flat" cmpd="sng">
            <a:solidFill>
              <a:srgbClr val="683F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0" name="Google Shape;120;g31efdc8c695_1_83"/>
          <p:cNvSpPr txBox="1"/>
          <p:nvPr/>
        </p:nvSpPr>
        <p:spPr>
          <a:xfrm>
            <a:off x="11055985" y="6444999"/>
            <a:ext cx="258300" cy="184800"/>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9</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31efdc8c695_1_91"/>
          <p:cNvSpPr txBox="1">
            <a:spLocks noGrp="1"/>
          </p:cNvSpPr>
          <p:nvPr>
            <p:ph type="title"/>
          </p:nvPr>
        </p:nvSpPr>
        <p:spPr>
          <a:xfrm>
            <a:off x="732968" y="604947"/>
            <a:ext cx="5239500" cy="4926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Label Powerset</a:t>
            </a:r>
            <a:endParaRPr/>
          </a:p>
        </p:txBody>
      </p:sp>
      <p:sp>
        <p:nvSpPr>
          <p:cNvPr id="127" name="Google Shape;127;g31efdc8c695_1_91"/>
          <p:cNvSpPr/>
          <p:nvPr/>
        </p:nvSpPr>
        <p:spPr>
          <a:xfrm>
            <a:off x="5150251" y="3260100"/>
            <a:ext cx="1891500" cy="337800"/>
          </a:xfrm>
          <a:prstGeom prst="rightArrow">
            <a:avLst>
              <a:gd name="adj1" fmla="val 50000"/>
              <a:gd name="adj2" fmla="val 50000"/>
            </a:avLst>
          </a:prstGeom>
          <a:solidFill>
            <a:schemeClr val="accent6"/>
          </a:solidFill>
          <a:ln w="25400" cap="flat" cmpd="sng">
            <a:solidFill>
              <a:srgbClr val="683F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28" name="Google Shape;128;g31efdc8c695_1_91"/>
          <p:cNvPicPr preferRelativeResize="0"/>
          <p:nvPr/>
        </p:nvPicPr>
        <p:blipFill>
          <a:blip r:embed="rId3">
            <a:alphaModFix/>
          </a:blip>
          <a:stretch>
            <a:fillRect/>
          </a:stretch>
        </p:blipFill>
        <p:spPr>
          <a:xfrm>
            <a:off x="1918675" y="1742776"/>
            <a:ext cx="2433880" cy="3372436"/>
          </a:xfrm>
          <a:prstGeom prst="rect">
            <a:avLst/>
          </a:prstGeom>
          <a:noFill/>
          <a:ln>
            <a:noFill/>
          </a:ln>
        </p:spPr>
      </p:pic>
      <p:pic>
        <p:nvPicPr>
          <p:cNvPr id="129" name="Google Shape;129;g31efdc8c695_1_91"/>
          <p:cNvPicPr preferRelativeResize="0"/>
          <p:nvPr/>
        </p:nvPicPr>
        <p:blipFill>
          <a:blip r:embed="rId4">
            <a:alphaModFix/>
          </a:blip>
          <a:stretch>
            <a:fillRect/>
          </a:stretch>
        </p:blipFill>
        <p:spPr>
          <a:xfrm>
            <a:off x="7616826" y="1742776"/>
            <a:ext cx="2131634" cy="3372436"/>
          </a:xfrm>
          <a:prstGeom prst="rect">
            <a:avLst/>
          </a:prstGeom>
          <a:noFill/>
          <a:ln>
            <a:noFill/>
          </a:ln>
        </p:spPr>
      </p:pic>
      <p:sp>
        <p:nvSpPr>
          <p:cNvPr id="130" name="Google Shape;130;g31efdc8c695_1_91"/>
          <p:cNvSpPr txBox="1"/>
          <p:nvPr/>
        </p:nvSpPr>
        <p:spPr>
          <a:xfrm>
            <a:off x="11055985" y="6444999"/>
            <a:ext cx="258300" cy="184800"/>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10</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8"/>
          <p:cNvSpPr txBox="1">
            <a:spLocks noGrp="1"/>
          </p:cNvSpPr>
          <p:nvPr>
            <p:ph type="title"/>
          </p:nvPr>
        </p:nvSpPr>
        <p:spPr>
          <a:xfrm>
            <a:off x="732980" y="604950"/>
            <a:ext cx="10323000" cy="505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  </a:t>
            </a:r>
            <a:r>
              <a:rPr lang="en-US">
                <a:latin typeface="Calibri"/>
                <a:ea typeface="Calibri"/>
                <a:cs typeface="Calibri"/>
                <a:sym typeface="Calibri"/>
              </a:rPr>
              <a:t> Comparative Analysis without Pre-Processing</a:t>
            </a:r>
            <a:endParaRPr/>
          </a:p>
        </p:txBody>
      </p:sp>
      <p:sp>
        <p:nvSpPr>
          <p:cNvPr id="136" name="Google Shape;136;p28"/>
          <p:cNvSpPr txBox="1"/>
          <p:nvPr/>
        </p:nvSpPr>
        <p:spPr>
          <a:xfrm>
            <a:off x="11055985" y="6444999"/>
            <a:ext cx="258445" cy="196215"/>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11</a:t>
            </a:fld>
            <a:endParaRPr sz="1200" b="0" i="0" u="none" strike="noStrike" cap="none">
              <a:solidFill>
                <a:schemeClr val="lt1"/>
              </a:solidFill>
              <a:latin typeface="Arial"/>
              <a:ea typeface="Arial"/>
              <a:cs typeface="Arial"/>
              <a:sym typeface="Arial"/>
            </a:endParaRPr>
          </a:p>
        </p:txBody>
      </p:sp>
      <p:pic>
        <p:nvPicPr>
          <p:cNvPr id="137" name="Google Shape;137;p28"/>
          <p:cNvPicPr preferRelativeResize="0"/>
          <p:nvPr/>
        </p:nvPicPr>
        <p:blipFill>
          <a:blip r:embed="rId3">
            <a:alphaModFix/>
          </a:blip>
          <a:stretch>
            <a:fillRect/>
          </a:stretch>
        </p:blipFill>
        <p:spPr>
          <a:xfrm>
            <a:off x="1066800" y="1320850"/>
            <a:ext cx="10058398" cy="2286000"/>
          </a:xfrm>
          <a:prstGeom prst="rect">
            <a:avLst/>
          </a:prstGeom>
          <a:noFill/>
          <a:ln>
            <a:noFill/>
          </a:ln>
        </p:spPr>
      </p:pic>
      <p:pic>
        <p:nvPicPr>
          <p:cNvPr id="138" name="Google Shape;138;p28"/>
          <p:cNvPicPr preferRelativeResize="0"/>
          <p:nvPr/>
        </p:nvPicPr>
        <p:blipFill>
          <a:blip r:embed="rId4">
            <a:alphaModFix/>
          </a:blip>
          <a:stretch>
            <a:fillRect/>
          </a:stretch>
        </p:blipFill>
        <p:spPr>
          <a:xfrm>
            <a:off x="1066800" y="3817250"/>
            <a:ext cx="10058400" cy="2286000"/>
          </a:xfrm>
          <a:prstGeom prst="rect">
            <a:avLst/>
          </a:prstGeom>
          <a:noFill/>
          <a:ln>
            <a:noFill/>
          </a:ln>
        </p:spPr>
      </p:pic>
      <p:cxnSp>
        <p:nvCxnSpPr>
          <p:cNvPr id="139" name="Google Shape;139;p28"/>
          <p:cNvCxnSpPr/>
          <p:nvPr/>
        </p:nvCxnSpPr>
        <p:spPr>
          <a:xfrm rot="10800000">
            <a:off x="4141575" y="3866000"/>
            <a:ext cx="0" cy="231600"/>
          </a:xfrm>
          <a:prstGeom prst="straightConnector1">
            <a:avLst/>
          </a:prstGeom>
          <a:noFill/>
          <a:ln w="19050" cap="flat" cmpd="sng">
            <a:solidFill>
              <a:schemeClr val="dk1"/>
            </a:solidFill>
            <a:prstDash val="solid"/>
            <a:round/>
            <a:headEnd type="none" w="med" len="med"/>
            <a:tailEnd type="none" w="med" len="med"/>
          </a:ln>
        </p:spPr>
      </p:cxnSp>
      <p:cxnSp>
        <p:nvCxnSpPr>
          <p:cNvPr id="140" name="Google Shape;140;p28"/>
          <p:cNvCxnSpPr/>
          <p:nvPr/>
        </p:nvCxnSpPr>
        <p:spPr>
          <a:xfrm rot="10800000">
            <a:off x="5329375" y="3866000"/>
            <a:ext cx="0" cy="231600"/>
          </a:xfrm>
          <a:prstGeom prst="straightConnector1">
            <a:avLst/>
          </a:prstGeom>
          <a:noFill/>
          <a:ln w="9525" cap="flat" cmpd="sng">
            <a:solidFill>
              <a:schemeClr val="dk1"/>
            </a:solidFill>
            <a:prstDash val="solid"/>
            <a:round/>
            <a:headEnd type="none" w="med" len="med"/>
            <a:tailEnd type="none" w="med" len="med"/>
          </a:ln>
        </p:spPr>
      </p:cxnSp>
      <p:cxnSp>
        <p:nvCxnSpPr>
          <p:cNvPr id="141" name="Google Shape;141;p28"/>
          <p:cNvCxnSpPr/>
          <p:nvPr/>
        </p:nvCxnSpPr>
        <p:spPr>
          <a:xfrm rot="10800000">
            <a:off x="6407550" y="3866000"/>
            <a:ext cx="0" cy="231600"/>
          </a:xfrm>
          <a:prstGeom prst="straightConnector1">
            <a:avLst/>
          </a:prstGeom>
          <a:noFill/>
          <a:ln w="9525" cap="flat" cmpd="sng">
            <a:solidFill>
              <a:schemeClr val="dk1"/>
            </a:solidFill>
            <a:prstDash val="solid"/>
            <a:round/>
            <a:headEnd type="none" w="med" len="med"/>
            <a:tailEnd type="none" w="med" len="med"/>
          </a:ln>
        </p:spPr>
      </p:cxnSp>
      <p:cxnSp>
        <p:nvCxnSpPr>
          <p:cNvPr id="142" name="Google Shape;142;p28"/>
          <p:cNvCxnSpPr/>
          <p:nvPr/>
        </p:nvCxnSpPr>
        <p:spPr>
          <a:xfrm rot="10800000">
            <a:off x="2418075" y="3866000"/>
            <a:ext cx="0" cy="231600"/>
          </a:xfrm>
          <a:prstGeom prst="straightConnector1">
            <a:avLst/>
          </a:prstGeom>
          <a:noFill/>
          <a:ln w="19050" cap="flat" cmpd="sng">
            <a:solidFill>
              <a:schemeClr val="dk1"/>
            </a:solidFill>
            <a:prstDash val="solid"/>
            <a:round/>
            <a:headEnd type="none" w="med" len="med"/>
            <a:tailEnd type="none" w="med" len="med"/>
          </a:ln>
        </p:spPr>
      </p:cxnSp>
      <p:sp>
        <p:nvSpPr>
          <p:cNvPr id="143" name="Google Shape;143;p28"/>
          <p:cNvSpPr/>
          <p:nvPr/>
        </p:nvSpPr>
        <p:spPr>
          <a:xfrm>
            <a:off x="1227600" y="4853100"/>
            <a:ext cx="1061400" cy="5055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 name="Google Shape;144;p28"/>
          <p:cNvSpPr/>
          <p:nvPr/>
        </p:nvSpPr>
        <p:spPr>
          <a:xfrm>
            <a:off x="2699925" y="5513175"/>
            <a:ext cx="1130700" cy="44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 name="Google Shape;145;p28"/>
          <p:cNvSpPr/>
          <p:nvPr/>
        </p:nvSpPr>
        <p:spPr>
          <a:xfrm>
            <a:off x="4207900" y="5432425"/>
            <a:ext cx="1061400" cy="1962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6"/>
          <p:cNvSpPr txBox="1">
            <a:spLocks noGrp="1"/>
          </p:cNvSpPr>
          <p:nvPr>
            <p:ph type="title"/>
          </p:nvPr>
        </p:nvSpPr>
        <p:spPr>
          <a:xfrm>
            <a:off x="732975" y="604950"/>
            <a:ext cx="7945800" cy="505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latin typeface="Calibri"/>
                <a:ea typeface="Calibri"/>
                <a:cs typeface="Calibri"/>
                <a:sym typeface="Calibri"/>
              </a:rPr>
              <a:t>   Data Cleaning &amp; Preprocessing Methods</a:t>
            </a:r>
            <a:endParaRPr/>
          </a:p>
        </p:txBody>
      </p:sp>
      <p:sp>
        <p:nvSpPr>
          <p:cNvPr id="151" name="Google Shape;151;p6"/>
          <p:cNvSpPr/>
          <p:nvPr/>
        </p:nvSpPr>
        <p:spPr>
          <a:xfrm>
            <a:off x="1790020" y="1567764"/>
            <a:ext cx="1464000" cy="639300"/>
          </a:xfrm>
          <a:prstGeom prst="roundRect">
            <a:avLst>
              <a:gd name="adj" fmla="val 16667"/>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a:solidFill>
                  <a:schemeClr val="dk1"/>
                </a:solidFill>
                <a:latin typeface="Calibri"/>
                <a:ea typeface="Calibri"/>
                <a:cs typeface="Calibri"/>
                <a:sym typeface="Calibri"/>
              </a:rPr>
              <a:t>Convert to Lowercase</a:t>
            </a:r>
            <a:endParaRPr sz="1400" b="0" i="0" u="none" strike="noStrike" cap="none">
              <a:solidFill>
                <a:schemeClr val="dk1"/>
              </a:solidFill>
              <a:latin typeface="Calibri"/>
              <a:ea typeface="Calibri"/>
              <a:cs typeface="Calibri"/>
              <a:sym typeface="Calibri"/>
            </a:endParaRPr>
          </a:p>
        </p:txBody>
      </p:sp>
      <p:sp>
        <p:nvSpPr>
          <p:cNvPr id="152" name="Google Shape;152;p6"/>
          <p:cNvSpPr/>
          <p:nvPr/>
        </p:nvSpPr>
        <p:spPr>
          <a:xfrm>
            <a:off x="1790020" y="2363554"/>
            <a:ext cx="1463100" cy="638100"/>
          </a:xfrm>
          <a:prstGeom prst="roundRect">
            <a:avLst>
              <a:gd name="adj" fmla="val 16667"/>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400" b="0" i="0" u="none" strike="noStrike" cap="none">
                <a:solidFill>
                  <a:schemeClr val="dk1"/>
                </a:solidFill>
                <a:latin typeface="Calibri"/>
                <a:ea typeface="Calibri"/>
                <a:cs typeface="Calibri"/>
                <a:sym typeface="Calibri"/>
              </a:rPr>
              <a:t>Remove special characters</a:t>
            </a: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53" name="Google Shape;153;p6"/>
          <p:cNvSpPr/>
          <p:nvPr/>
        </p:nvSpPr>
        <p:spPr>
          <a:xfrm>
            <a:off x="1790020" y="3123835"/>
            <a:ext cx="1463100" cy="642000"/>
          </a:xfrm>
          <a:prstGeom prst="roundRect">
            <a:avLst>
              <a:gd name="adj" fmla="val 16667"/>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a:solidFill>
                  <a:schemeClr val="dk1"/>
                </a:solidFill>
                <a:latin typeface="Calibri"/>
                <a:ea typeface="Calibri"/>
                <a:cs typeface="Calibri"/>
                <a:sym typeface="Calibri"/>
              </a:rPr>
              <a:t>Remove </a:t>
            </a:r>
            <a:r>
              <a:rPr lang="en-US">
                <a:solidFill>
                  <a:schemeClr val="dk1"/>
                </a:solidFill>
                <a:latin typeface="Calibri"/>
                <a:ea typeface="Calibri"/>
                <a:cs typeface="Calibri"/>
                <a:sym typeface="Calibri"/>
              </a:rPr>
              <a:t>stop words</a:t>
            </a:r>
            <a:endParaRPr/>
          </a:p>
        </p:txBody>
      </p:sp>
      <p:sp>
        <p:nvSpPr>
          <p:cNvPr id="154" name="Google Shape;154;p6"/>
          <p:cNvSpPr/>
          <p:nvPr/>
        </p:nvSpPr>
        <p:spPr>
          <a:xfrm>
            <a:off x="7766854" y="1567764"/>
            <a:ext cx="2742000" cy="639600"/>
          </a:xfrm>
          <a:prstGeom prst="roundRect">
            <a:avLst>
              <a:gd name="adj" fmla="val 16667"/>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i="0" u="none" strike="noStrike" cap="none">
                <a:solidFill>
                  <a:schemeClr val="dk1"/>
                </a:solidFill>
                <a:latin typeface="Calibri"/>
                <a:ea typeface="Calibri"/>
                <a:cs typeface="Calibri"/>
                <a:sym typeface="Calibri"/>
              </a:rPr>
              <a:t>text.lower()</a:t>
            </a:r>
            <a:endParaRPr sz="140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55" name="Google Shape;155;p6"/>
          <p:cNvSpPr/>
          <p:nvPr/>
        </p:nvSpPr>
        <p:spPr>
          <a:xfrm>
            <a:off x="7764771" y="3120142"/>
            <a:ext cx="2744400" cy="645900"/>
          </a:xfrm>
          <a:prstGeom prst="roundRect">
            <a:avLst>
              <a:gd name="adj" fmla="val 16667"/>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en-US">
                <a:solidFill>
                  <a:schemeClr val="dk1"/>
                </a:solidFill>
                <a:latin typeface="Calibri"/>
                <a:ea typeface="Calibri"/>
                <a:cs typeface="Calibri"/>
                <a:sym typeface="Calibri"/>
              </a:rPr>
              <a:t>text.split() if not w in stop_words</a:t>
            </a:r>
            <a:endParaRPr>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en-US">
                <a:solidFill>
                  <a:schemeClr val="dk1"/>
                </a:solidFill>
                <a:latin typeface="Calibri"/>
                <a:ea typeface="Calibri"/>
                <a:cs typeface="Calibri"/>
                <a:sym typeface="Calibri"/>
              </a:rPr>
              <a:t>join</a:t>
            </a:r>
            <a:endParaRPr>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56" name="Google Shape;156;p6"/>
          <p:cNvSpPr/>
          <p:nvPr/>
        </p:nvSpPr>
        <p:spPr>
          <a:xfrm>
            <a:off x="7766854" y="2361812"/>
            <a:ext cx="2744400" cy="640800"/>
          </a:xfrm>
          <a:prstGeom prst="roundRect">
            <a:avLst>
              <a:gd name="adj" fmla="val 16667"/>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400" i="0" u="none" strike="noStrike" cap="none">
                <a:solidFill>
                  <a:schemeClr val="dk1"/>
                </a:solidFill>
                <a:latin typeface="Calibri"/>
                <a:ea typeface="Calibri"/>
                <a:cs typeface="Calibri"/>
                <a:sym typeface="Calibri"/>
              </a:rPr>
              <a:t>re.sub(r'[^a-zA-Z\s]', '', text)</a:t>
            </a:r>
            <a:endParaRPr/>
          </a:p>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57" name="Google Shape;157;p6"/>
          <p:cNvSpPr/>
          <p:nvPr/>
        </p:nvSpPr>
        <p:spPr>
          <a:xfrm>
            <a:off x="3543647" y="1718131"/>
            <a:ext cx="3955200" cy="337800"/>
          </a:xfrm>
          <a:prstGeom prst="rightArrow">
            <a:avLst>
              <a:gd name="adj1" fmla="val 50000"/>
              <a:gd name="adj2" fmla="val 50000"/>
            </a:avLst>
          </a:prstGeom>
          <a:solidFill>
            <a:schemeClr val="accent6"/>
          </a:solidFill>
          <a:ln w="25400" cap="flat" cmpd="sng">
            <a:solidFill>
              <a:srgbClr val="683F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58" name="Google Shape;158;p6"/>
          <p:cNvSpPr/>
          <p:nvPr/>
        </p:nvSpPr>
        <p:spPr>
          <a:xfrm>
            <a:off x="3543646" y="2510369"/>
            <a:ext cx="3955200" cy="337800"/>
          </a:xfrm>
          <a:prstGeom prst="rightArrow">
            <a:avLst>
              <a:gd name="adj1" fmla="val 50000"/>
              <a:gd name="adj2" fmla="val 50000"/>
            </a:avLst>
          </a:prstGeom>
          <a:solidFill>
            <a:schemeClr val="accent6"/>
          </a:solidFill>
          <a:ln w="25400" cap="flat" cmpd="sng">
            <a:solidFill>
              <a:srgbClr val="683F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59" name="Google Shape;159;p6"/>
          <p:cNvSpPr/>
          <p:nvPr/>
        </p:nvSpPr>
        <p:spPr>
          <a:xfrm>
            <a:off x="3543646" y="3272368"/>
            <a:ext cx="3955200" cy="337800"/>
          </a:xfrm>
          <a:prstGeom prst="rightArrow">
            <a:avLst>
              <a:gd name="adj1" fmla="val 50000"/>
              <a:gd name="adj2" fmla="val 50000"/>
            </a:avLst>
          </a:prstGeom>
          <a:solidFill>
            <a:schemeClr val="accent6"/>
          </a:solidFill>
          <a:ln w="25400" cap="flat" cmpd="sng">
            <a:solidFill>
              <a:srgbClr val="683F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0" name="Google Shape;160;p6"/>
          <p:cNvSpPr txBox="1">
            <a:spLocks noGrp="1"/>
          </p:cNvSpPr>
          <p:nvPr>
            <p:ph type="sldNum" idx="12"/>
          </p:nvPr>
        </p:nvSpPr>
        <p:spPr>
          <a:xfrm>
            <a:off x="11055985" y="6444999"/>
            <a:ext cx="258445" cy="196215"/>
          </a:xfrm>
          <a:prstGeom prst="rect">
            <a:avLst/>
          </a:prstGeom>
          <a:noFill/>
          <a:ln>
            <a:noFill/>
          </a:ln>
        </p:spPr>
        <p:txBody>
          <a:bodyPr spcFirstLastPara="1" wrap="square" lIns="0" tIns="0" rIns="0" bIns="0" anchor="t" anchorCtr="0">
            <a:spAutoFit/>
          </a:bodyPr>
          <a:lstStyle/>
          <a:p>
            <a:pPr marL="38100" lvl="0" indent="0" algn="l" rtl="0">
              <a:lnSpc>
                <a:spcPct val="118750"/>
              </a:lnSpc>
              <a:spcBef>
                <a:spcPts val="0"/>
              </a:spcBef>
              <a:spcAft>
                <a:spcPts val="0"/>
              </a:spcAft>
              <a:buSzPts val="1200"/>
              <a:buNone/>
            </a:pPr>
            <a:fld id="{00000000-1234-1234-1234-123412341234}" type="slidenum">
              <a:rPr lang="en-US"/>
              <a:t>12</a:t>
            </a:fld>
            <a:endParaRPr/>
          </a:p>
        </p:txBody>
      </p:sp>
      <p:sp>
        <p:nvSpPr>
          <p:cNvPr id="161" name="Google Shape;161;p6"/>
          <p:cNvSpPr/>
          <p:nvPr/>
        </p:nvSpPr>
        <p:spPr>
          <a:xfrm>
            <a:off x="1789945" y="3887954"/>
            <a:ext cx="1463100" cy="638100"/>
          </a:xfrm>
          <a:prstGeom prst="roundRect">
            <a:avLst>
              <a:gd name="adj" fmla="val 16667"/>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en-US">
                <a:solidFill>
                  <a:schemeClr val="dk1"/>
                </a:solidFill>
                <a:latin typeface="Calibri"/>
                <a:ea typeface="Calibri"/>
                <a:cs typeface="Calibri"/>
                <a:sym typeface="Calibri"/>
              </a:rPr>
              <a:t>Stemming</a:t>
            </a: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62" name="Google Shape;162;p6"/>
          <p:cNvSpPr/>
          <p:nvPr/>
        </p:nvSpPr>
        <p:spPr>
          <a:xfrm>
            <a:off x="1789945" y="4648236"/>
            <a:ext cx="1463100" cy="642000"/>
          </a:xfrm>
          <a:prstGeom prst="roundRect">
            <a:avLst>
              <a:gd name="adj" fmla="val 16667"/>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a:solidFill>
                  <a:schemeClr val="dk1"/>
                </a:solidFill>
                <a:latin typeface="Calibri"/>
                <a:ea typeface="Calibri"/>
                <a:cs typeface="Calibri"/>
                <a:sym typeface="Calibri"/>
              </a:rPr>
              <a:t>Combining Title and Abstract</a:t>
            </a:r>
            <a:endParaRPr/>
          </a:p>
        </p:txBody>
      </p:sp>
      <p:sp>
        <p:nvSpPr>
          <p:cNvPr id="163" name="Google Shape;163;p6"/>
          <p:cNvSpPr/>
          <p:nvPr/>
        </p:nvSpPr>
        <p:spPr>
          <a:xfrm>
            <a:off x="3543696" y="4034344"/>
            <a:ext cx="3955200" cy="337800"/>
          </a:xfrm>
          <a:prstGeom prst="rightArrow">
            <a:avLst>
              <a:gd name="adj1" fmla="val 50000"/>
              <a:gd name="adj2" fmla="val 50000"/>
            </a:avLst>
          </a:prstGeom>
          <a:solidFill>
            <a:schemeClr val="accent6"/>
          </a:solidFill>
          <a:ln w="25400" cap="flat" cmpd="sng">
            <a:solidFill>
              <a:srgbClr val="683F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4" name="Google Shape;164;p6"/>
          <p:cNvSpPr/>
          <p:nvPr/>
        </p:nvSpPr>
        <p:spPr>
          <a:xfrm>
            <a:off x="3543696" y="4796344"/>
            <a:ext cx="3955200" cy="337800"/>
          </a:xfrm>
          <a:prstGeom prst="rightArrow">
            <a:avLst>
              <a:gd name="adj1" fmla="val 50000"/>
              <a:gd name="adj2" fmla="val 50000"/>
            </a:avLst>
          </a:prstGeom>
          <a:solidFill>
            <a:schemeClr val="accent6"/>
          </a:solidFill>
          <a:ln w="25400" cap="flat" cmpd="sng">
            <a:solidFill>
              <a:srgbClr val="683F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5" name="Google Shape;165;p6"/>
          <p:cNvSpPr/>
          <p:nvPr/>
        </p:nvSpPr>
        <p:spPr>
          <a:xfrm>
            <a:off x="7789546" y="4641842"/>
            <a:ext cx="2744400" cy="645900"/>
          </a:xfrm>
          <a:prstGeom prst="roundRect">
            <a:avLst>
              <a:gd name="adj" fmla="val 16667"/>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en-US">
                <a:solidFill>
                  <a:schemeClr val="dk1"/>
                </a:solidFill>
                <a:latin typeface="Calibri"/>
                <a:ea typeface="Calibri"/>
                <a:cs typeface="Calibri"/>
                <a:sym typeface="Calibri"/>
              </a:rPr>
              <a:t>['Text' ]= ['TITLE'] + ['ABSTRACT']</a:t>
            </a:r>
            <a:endParaRPr/>
          </a:p>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66" name="Google Shape;166;p6"/>
          <p:cNvSpPr/>
          <p:nvPr/>
        </p:nvSpPr>
        <p:spPr>
          <a:xfrm>
            <a:off x="7791629" y="3883512"/>
            <a:ext cx="2744400" cy="640800"/>
          </a:xfrm>
          <a:prstGeom prst="roundRect">
            <a:avLst>
              <a:gd name="adj" fmla="val 16667"/>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en-US">
                <a:solidFill>
                  <a:schemeClr val="dk1"/>
                </a:solidFill>
                <a:latin typeface="Calibri"/>
                <a:ea typeface="Calibri"/>
                <a:cs typeface="Calibri"/>
                <a:sym typeface="Calibri"/>
              </a:rPr>
              <a:t>stemmer.stem(word)</a:t>
            </a:r>
            <a:endParaRPr/>
          </a:p>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1efdc8c695_1_20"/>
          <p:cNvSpPr txBox="1">
            <a:spLocks noGrp="1"/>
          </p:cNvSpPr>
          <p:nvPr>
            <p:ph type="title"/>
          </p:nvPr>
        </p:nvSpPr>
        <p:spPr>
          <a:xfrm>
            <a:off x="732980" y="604950"/>
            <a:ext cx="10323000" cy="505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  </a:t>
            </a:r>
            <a:r>
              <a:rPr lang="en-US">
                <a:latin typeface="Calibri"/>
                <a:ea typeface="Calibri"/>
                <a:cs typeface="Calibri"/>
                <a:sym typeface="Calibri"/>
              </a:rPr>
              <a:t> Comparative Analysis after Pre-Processing</a:t>
            </a:r>
            <a:endParaRPr/>
          </a:p>
        </p:txBody>
      </p:sp>
      <p:sp>
        <p:nvSpPr>
          <p:cNvPr id="172" name="Google Shape;172;g31efdc8c695_1_20"/>
          <p:cNvSpPr txBox="1"/>
          <p:nvPr/>
        </p:nvSpPr>
        <p:spPr>
          <a:xfrm>
            <a:off x="11055985" y="6444999"/>
            <a:ext cx="258300" cy="184800"/>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13</a:t>
            </a:fld>
            <a:endParaRPr sz="1200" b="0" i="0" u="none" strike="noStrike" cap="none">
              <a:solidFill>
                <a:schemeClr val="lt1"/>
              </a:solidFill>
              <a:latin typeface="Arial"/>
              <a:ea typeface="Arial"/>
              <a:cs typeface="Arial"/>
              <a:sym typeface="Arial"/>
            </a:endParaRPr>
          </a:p>
        </p:txBody>
      </p:sp>
      <p:pic>
        <p:nvPicPr>
          <p:cNvPr id="173" name="Google Shape;173;g31efdc8c695_1_20"/>
          <p:cNvPicPr preferRelativeResize="0"/>
          <p:nvPr/>
        </p:nvPicPr>
        <p:blipFill>
          <a:blip r:embed="rId3">
            <a:alphaModFix/>
          </a:blip>
          <a:stretch>
            <a:fillRect/>
          </a:stretch>
        </p:blipFill>
        <p:spPr>
          <a:xfrm>
            <a:off x="1066800" y="1311575"/>
            <a:ext cx="10058400" cy="2286000"/>
          </a:xfrm>
          <a:prstGeom prst="rect">
            <a:avLst/>
          </a:prstGeom>
          <a:noFill/>
          <a:ln>
            <a:noFill/>
          </a:ln>
        </p:spPr>
      </p:pic>
      <p:pic>
        <p:nvPicPr>
          <p:cNvPr id="174" name="Google Shape;174;g31efdc8c695_1_20"/>
          <p:cNvPicPr preferRelativeResize="0"/>
          <p:nvPr/>
        </p:nvPicPr>
        <p:blipFill>
          <a:blip r:embed="rId4">
            <a:alphaModFix/>
          </a:blip>
          <a:stretch>
            <a:fillRect/>
          </a:stretch>
        </p:blipFill>
        <p:spPr>
          <a:xfrm>
            <a:off x="1066800" y="3713425"/>
            <a:ext cx="10058400" cy="2286000"/>
          </a:xfrm>
          <a:prstGeom prst="rect">
            <a:avLst/>
          </a:prstGeom>
          <a:noFill/>
          <a:ln>
            <a:noFill/>
          </a:ln>
        </p:spPr>
      </p:pic>
      <p:sp>
        <p:nvSpPr>
          <p:cNvPr id="175" name="Google Shape;175;g31efdc8c695_1_20"/>
          <p:cNvSpPr/>
          <p:nvPr/>
        </p:nvSpPr>
        <p:spPr>
          <a:xfrm>
            <a:off x="1227600" y="4723875"/>
            <a:ext cx="1061400" cy="5055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 name="Google Shape;176;g31efdc8c695_1_20"/>
          <p:cNvSpPr/>
          <p:nvPr/>
        </p:nvSpPr>
        <p:spPr>
          <a:xfrm>
            <a:off x="2801425" y="5494675"/>
            <a:ext cx="1176900" cy="329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 name="Google Shape;177;g31efdc8c695_1_20"/>
          <p:cNvSpPr/>
          <p:nvPr/>
        </p:nvSpPr>
        <p:spPr>
          <a:xfrm>
            <a:off x="4301425" y="5305575"/>
            <a:ext cx="876600" cy="2325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31efdc8c695_2_0"/>
          <p:cNvSpPr txBox="1">
            <a:spLocks noGrp="1"/>
          </p:cNvSpPr>
          <p:nvPr>
            <p:ph type="title"/>
          </p:nvPr>
        </p:nvSpPr>
        <p:spPr>
          <a:xfrm>
            <a:off x="809243" y="309597"/>
            <a:ext cx="5239500" cy="4926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BERT</a:t>
            </a:r>
            <a:endParaRPr/>
          </a:p>
        </p:txBody>
      </p:sp>
      <p:pic>
        <p:nvPicPr>
          <p:cNvPr id="184" name="Google Shape;184;g31efdc8c695_2_0"/>
          <p:cNvPicPr preferRelativeResize="0"/>
          <p:nvPr/>
        </p:nvPicPr>
        <p:blipFill>
          <a:blip r:embed="rId3">
            <a:alphaModFix/>
          </a:blip>
          <a:stretch>
            <a:fillRect/>
          </a:stretch>
        </p:blipFill>
        <p:spPr>
          <a:xfrm>
            <a:off x="7378700" y="586225"/>
            <a:ext cx="2624151" cy="5447401"/>
          </a:xfrm>
          <a:prstGeom prst="rect">
            <a:avLst/>
          </a:prstGeom>
          <a:noFill/>
          <a:ln>
            <a:noFill/>
          </a:ln>
        </p:spPr>
      </p:pic>
      <p:sp>
        <p:nvSpPr>
          <p:cNvPr id="185" name="Google Shape;185;g31efdc8c695_2_0"/>
          <p:cNvSpPr/>
          <p:nvPr/>
        </p:nvSpPr>
        <p:spPr>
          <a:xfrm>
            <a:off x="958150" y="1209075"/>
            <a:ext cx="4893900" cy="492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solidFill>
                  <a:srgbClr val="242424"/>
                </a:solidFill>
                <a:highlight>
                  <a:srgbClr val="FFFFFF"/>
                </a:highlight>
                <a:latin typeface="Calibri"/>
                <a:ea typeface="Calibri"/>
                <a:cs typeface="Calibri"/>
                <a:sym typeface="Calibri"/>
              </a:rPr>
              <a:t>Robustly Optimized BERT Approach</a:t>
            </a:r>
            <a:endParaRPr sz="2000">
              <a:latin typeface="Calibri"/>
              <a:ea typeface="Calibri"/>
              <a:cs typeface="Calibri"/>
              <a:sym typeface="Calibri"/>
            </a:endParaRPr>
          </a:p>
        </p:txBody>
      </p:sp>
      <p:sp>
        <p:nvSpPr>
          <p:cNvPr id="186" name="Google Shape;186;g31efdc8c695_2_0"/>
          <p:cNvSpPr txBox="1"/>
          <p:nvPr/>
        </p:nvSpPr>
        <p:spPr>
          <a:xfrm>
            <a:off x="1006100" y="2108550"/>
            <a:ext cx="5104200" cy="27372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rgbClr val="242424"/>
              </a:buClr>
              <a:buSzPts val="1600"/>
              <a:buFont typeface="Calibri"/>
              <a:buChar char="●"/>
            </a:pPr>
            <a:r>
              <a:rPr lang="en-US" sz="1600">
                <a:solidFill>
                  <a:srgbClr val="242424"/>
                </a:solidFill>
                <a:highlight>
                  <a:srgbClr val="FFFFFF"/>
                </a:highlight>
                <a:latin typeface="Calibri"/>
                <a:ea typeface="Calibri"/>
                <a:cs typeface="Calibri"/>
                <a:sym typeface="Calibri"/>
              </a:rPr>
              <a:t>Trained on 160GB of text</a:t>
            </a:r>
            <a:endParaRPr sz="1600">
              <a:solidFill>
                <a:srgbClr val="242424"/>
              </a:solidFill>
              <a:highlight>
                <a:srgbClr val="FFFFFF"/>
              </a:highlight>
              <a:latin typeface="Calibri"/>
              <a:ea typeface="Calibri"/>
              <a:cs typeface="Calibri"/>
              <a:sym typeface="Calibri"/>
            </a:endParaRPr>
          </a:p>
          <a:p>
            <a:pPr marL="457200" lvl="0" indent="0" algn="l" rtl="0">
              <a:spcBef>
                <a:spcPts val="0"/>
              </a:spcBef>
              <a:spcAft>
                <a:spcPts val="0"/>
              </a:spcAft>
              <a:buNone/>
            </a:pPr>
            <a:endParaRPr sz="1600">
              <a:solidFill>
                <a:srgbClr val="242424"/>
              </a:solidFill>
              <a:highlight>
                <a:srgbClr val="FFFFFF"/>
              </a:highlight>
              <a:latin typeface="Calibri"/>
              <a:ea typeface="Calibri"/>
              <a:cs typeface="Calibri"/>
              <a:sym typeface="Calibri"/>
            </a:endParaRPr>
          </a:p>
          <a:p>
            <a:pPr marL="457200" lvl="0" indent="-330200" algn="l" rtl="0">
              <a:spcBef>
                <a:spcPts val="0"/>
              </a:spcBef>
              <a:spcAft>
                <a:spcPts val="0"/>
              </a:spcAft>
              <a:buClr>
                <a:srgbClr val="242424"/>
              </a:buClr>
              <a:buSzPts val="1600"/>
              <a:buFont typeface="Calibri"/>
              <a:buChar char="●"/>
            </a:pPr>
            <a:r>
              <a:rPr lang="en-US" sz="1600">
                <a:solidFill>
                  <a:srgbClr val="242424"/>
                </a:solidFill>
                <a:highlight>
                  <a:srgbClr val="FFFFFF"/>
                </a:highlight>
                <a:latin typeface="Calibri"/>
                <a:ea typeface="Calibri"/>
                <a:cs typeface="Calibri"/>
                <a:sym typeface="Calibri"/>
              </a:rPr>
              <a:t>Over 10 times the size of the dataset used for BERT</a:t>
            </a:r>
            <a:endParaRPr sz="1600">
              <a:solidFill>
                <a:srgbClr val="242424"/>
              </a:solidFill>
              <a:highlight>
                <a:srgbClr val="FFFFFF"/>
              </a:highlight>
              <a:latin typeface="Calibri"/>
              <a:ea typeface="Calibri"/>
              <a:cs typeface="Calibri"/>
              <a:sym typeface="Calibri"/>
            </a:endParaRPr>
          </a:p>
          <a:p>
            <a:pPr marL="457200" lvl="0" indent="0" algn="l" rtl="0">
              <a:spcBef>
                <a:spcPts val="0"/>
              </a:spcBef>
              <a:spcAft>
                <a:spcPts val="0"/>
              </a:spcAft>
              <a:buNone/>
            </a:pPr>
            <a:endParaRPr sz="1600">
              <a:solidFill>
                <a:srgbClr val="242424"/>
              </a:solidFill>
              <a:highlight>
                <a:srgbClr val="FFFFFF"/>
              </a:highlight>
              <a:latin typeface="Calibri"/>
              <a:ea typeface="Calibri"/>
              <a:cs typeface="Calibri"/>
              <a:sym typeface="Calibri"/>
            </a:endParaRPr>
          </a:p>
          <a:p>
            <a:pPr marL="457200" lvl="0" indent="-330200" algn="l" rtl="0">
              <a:spcBef>
                <a:spcPts val="0"/>
              </a:spcBef>
              <a:spcAft>
                <a:spcPts val="0"/>
              </a:spcAft>
              <a:buClr>
                <a:srgbClr val="242424"/>
              </a:buClr>
              <a:buSzPts val="1600"/>
              <a:buFont typeface="Calibri"/>
              <a:buChar char="●"/>
            </a:pPr>
            <a:r>
              <a:rPr lang="en-US" sz="1600">
                <a:solidFill>
                  <a:srgbClr val="242424"/>
                </a:solidFill>
                <a:highlight>
                  <a:srgbClr val="FFFFFF"/>
                </a:highlight>
                <a:latin typeface="Calibri"/>
                <a:ea typeface="Calibri"/>
                <a:cs typeface="Calibri"/>
                <a:sym typeface="Calibri"/>
              </a:rPr>
              <a:t>RoBERTa does not use the next-sentence pretraining objective(no token_type_ids)</a:t>
            </a:r>
            <a:endParaRPr sz="1600">
              <a:solidFill>
                <a:srgbClr val="242424"/>
              </a:solidFill>
              <a:highlight>
                <a:srgbClr val="FFFFFF"/>
              </a:highlight>
              <a:latin typeface="Calibri"/>
              <a:ea typeface="Calibri"/>
              <a:cs typeface="Calibri"/>
              <a:sym typeface="Calibri"/>
            </a:endParaRPr>
          </a:p>
          <a:p>
            <a:pPr marL="457200" lvl="0" indent="0" algn="l" rtl="0">
              <a:spcBef>
                <a:spcPts val="0"/>
              </a:spcBef>
              <a:spcAft>
                <a:spcPts val="0"/>
              </a:spcAft>
              <a:buNone/>
            </a:pPr>
            <a:endParaRPr sz="1600">
              <a:solidFill>
                <a:srgbClr val="242424"/>
              </a:solidFill>
              <a:highlight>
                <a:srgbClr val="FFFFFF"/>
              </a:highlight>
              <a:latin typeface="Calibri"/>
              <a:ea typeface="Calibri"/>
              <a:cs typeface="Calibri"/>
              <a:sym typeface="Calibri"/>
            </a:endParaRPr>
          </a:p>
          <a:p>
            <a:pPr marL="457200" lvl="0" indent="-330200" algn="l" rtl="0">
              <a:spcBef>
                <a:spcPts val="0"/>
              </a:spcBef>
              <a:spcAft>
                <a:spcPts val="0"/>
              </a:spcAft>
              <a:buClr>
                <a:srgbClr val="242424"/>
              </a:buClr>
              <a:buSzPts val="1600"/>
              <a:buFont typeface="Calibri"/>
              <a:buChar char="●"/>
            </a:pPr>
            <a:r>
              <a:rPr lang="en-US" sz="1600">
                <a:solidFill>
                  <a:srgbClr val="242424"/>
                </a:solidFill>
                <a:highlight>
                  <a:srgbClr val="FFFFFF"/>
                </a:highlight>
                <a:latin typeface="Calibri"/>
                <a:ea typeface="Calibri"/>
                <a:cs typeface="Calibri"/>
                <a:sym typeface="Calibri"/>
              </a:rPr>
              <a:t>12 attention heads per layer. There are 12 layers in total, making for a total of 144 attention heads</a:t>
            </a:r>
            <a:endParaRPr sz="1600">
              <a:solidFill>
                <a:srgbClr val="242424"/>
              </a:solidFill>
              <a:highlight>
                <a:srgbClr val="FFFFFF"/>
              </a:highlight>
              <a:latin typeface="Calibri"/>
              <a:ea typeface="Calibri"/>
              <a:cs typeface="Calibri"/>
              <a:sym typeface="Calibri"/>
            </a:endParaRPr>
          </a:p>
        </p:txBody>
      </p:sp>
      <p:sp>
        <p:nvSpPr>
          <p:cNvPr id="187" name="Google Shape;187;g31efdc8c695_2_0"/>
          <p:cNvSpPr txBox="1"/>
          <p:nvPr/>
        </p:nvSpPr>
        <p:spPr>
          <a:xfrm>
            <a:off x="11055985" y="6444999"/>
            <a:ext cx="258300" cy="184800"/>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14</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3"/>
          <p:cNvSpPr txBox="1">
            <a:spLocks noGrp="1"/>
          </p:cNvSpPr>
          <p:nvPr>
            <p:ph type="title"/>
          </p:nvPr>
        </p:nvSpPr>
        <p:spPr>
          <a:xfrm>
            <a:off x="880668" y="318058"/>
            <a:ext cx="8751300" cy="9852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Approaches followed to counter label imbalance and overfitting</a:t>
            </a:r>
            <a:endParaRPr/>
          </a:p>
        </p:txBody>
      </p:sp>
      <p:sp>
        <p:nvSpPr>
          <p:cNvPr id="193" name="Google Shape;193;p23"/>
          <p:cNvSpPr txBox="1">
            <a:spLocks noGrp="1"/>
          </p:cNvSpPr>
          <p:nvPr>
            <p:ph type="body" idx="1"/>
          </p:nvPr>
        </p:nvSpPr>
        <p:spPr>
          <a:xfrm>
            <a:off x="609600" y="1741362"/>
            <a:ext cx="5303400" cy="1015800"/>
          </a:xfrm>
          <a:prstGeom prst="rect">
            <a:avLst/>
          </a:prstGeom>
          <a:noFill/>
          <a:ln>
            <a:noFill/>
          </a:ln>
        </p:spPr>
        <p:txBody>
          <a:bodyPr spcFirstLastPara="1" wrap="square" lIns="0" tIns="0" rIns="0" bIns="0" anchor="t" anchorCtr="0">
            <a:spAutoFit/>
          </a:bodyPr>
          <a:lstStyle/>
          <a:p>
            <a:pPr marL="571500" lvl="0" indent="-342900" algn="l" rtl="0">
              <a:lnSpc>
                <a:spcPct val="100000"/>
              </a:lnSpc>
              <a:spcBef>
                <a:spcPts val="0"/>
              </a:spcBef>
              <a:spcAft>
                <a:spcPts val="0"/>
              </a:spcAft>
              <a:buSzPts val="1400"/>
              <a:buChar char="•"/>
            </a:pPr>
            <a:r>
              <a:rPr lang="en-US" sz="1800" b="0">
                <a:solidFill>
                  <a:schemeClr val="dk1"/>
                </a:solidFill>
                <a:latin typeface="Calibri"/>
                <a:ea typeface="Calibri"/>
                <a:cs typeface="Calibri"/>
                <a:sym typeface="Calibri"/>
              </a:rPr>
              <a:t>torch.nn.</a:t>
            </a:r>
            <a:r>
              <a:rPr lang="en-US" sz="1800" b="1" i="1">
                <a:solidFill>
                  <a:schemeClr val="dk1"/>
                </a:solidFill>
                <a:latin typeface="Calibri"/>
                <a:ea typeface="Calibri"/>
                <a:cs typeface="Calibri"/>
                <a:sym typeface="Calibri"/>
              </a:rPr>
              <a:t>Dropout</a:t>
            </a:r>
            <a:r>
              <a:rPr lang="en-US" sz="1800" b="0">
                <a:solidFill>
                  <a:schemeClr val="dk1"/>
                </a:solidFill>
                <a:latin typeface="Calibri"/>
                <a:ea typeface="Calibri"/>
                <a:cs typeface="Calibri"/>
                <a:sym typeface="Calibri"/>
              </a:rPr>
              <a:t>(0.5)</a:t>
            </a:r>
            <a:endParaRPr/>
          </a:p>
          <a:p>
            <a:pPr marL="571500" lvl="0" indent="-254000" algn="l" rtl="0">
              <a:lnSpc>
                <a:spcPct val="100000"/>
              </a:lnSpc>
              <a:spcBef>
                <a:spcPts val="0"/>
              </a:spcBef>
              <a:spcAft>
                <a:spcPts val="0"/>
              </a:spcAft>
              <a:buSzPts val="1400"/>
              <a:buFont typeface="Arial"/>
              <a:buNone/>
            </a:pPr>
            <a:endParaRPr b="0">
              <a:solidFill>
                <a:schemeClr val="dk1"/>
              </a:solidFill>
              <a:latin typeface="Calibri"/>
              <a:ea typeface="Calibri"/>
              <a:cs typeface="Calibri"/>
              <a:sym typeface="Calibri"/>
            </a:endParaRPr>
          </a:p>
          <a:p>
            <a:pPr marL="571500" lvl="0" indent="-254000" algn="l" rtl="0">
              <a:lnSpc>
                <a:spcPct val="100000"/>
              </a:lnSpc>
              <a:spcBef>
                <a:spcPts val="0"/>
              </a:spcBef>
              <a:spcAft>
                <a:spcPts val="0"/>
              </a:spcAft>
              <a:buSzPts val="1400"/>
              <a:buFont typeface="Arial"/>
              <a:buNone/>
            </a:pPr>
            <a:endParaRPr>
              <a:solidFill>
                <a:schemeClr val="dk1"/>
              </a:solidFill>
              <a:latin typeface="Calibri"/>
              <a:ea typeface="Calibri"/>
              <a:cs typeface="Calibri"/>
              <a:sym typeface="Calibri"/>
            </a:endParaRPr>
          </a:p>
        </p:txBody>
      </p:sp>
      <p:sp>
        <p:nvSpPr>
          <p:cNvPr id="194" name="Google Shape;194;p23"/>
          <p:cNvSpPr txBox="1"/>
          <p:nvPr/>
        </p:nvSpPr>
        <p:spPr>
          <a:xfrm>
            <a:off x="732968" y="2423725"/>
            <a:ext cx="3711441" cy="120032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chemeClr val="dk1"/>
                </a:solidFill>
                <a:latin typeface="Calibri"/>
                <a:ea typeface="Calibri"/>
                <a:cs typeface="Calibri"/>
                <a:sym typeface="Calibri"/>
              </a:rPr>
              <a:t>compute_class_weight</a:t>
            </a:r>
            <a:r>
              <a:rPr lang="en-US" sz="1800" b="0" i="0" u="none" strike="noStrike" cap="none">
                <a:solidFill>
                  <a:schemeClr val="dk1"/>
                </a:solidFill>
                <a:latin typeface="Calibri"/>
                <a:ea typeface="Calibri"/>
                <a:cs typeface="Calibri"/>
                <a:sym typeface="Calibri"/>
              </a:rPr>
              <a:t>('balanced', classes=np.array([0, 1]), y=df_train[column].values)</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95" name="Google Shape;195;p23"/>
          <p:cNvSpPr txBox="1"/>
          <p:nvPr/>
        </p:nvSpPr>
        <p:spPr>
          <a:xfrm>
            <a:off x="4444409" y="2448074"/>
            <a:ext cx="7596600" cy="1108200"/>
          </a:xfrm>
          <a:prstGeom prst="rect">
            <a:avLst/>
          </a:prstGeom>
          <a:noFill/>
          <a:ln>
            <a:noFill/>
          </a:ln>
        </p:spPr>
        <p:txBody>
          <a:bodyPr spcFirstLastPara="1" wrap="square" lIns="0" tIns="0" rIns="0" bIns="0" anchor="t" anchorCtr="0">
            <a:spAutoFit/>
          </a:bodyPr>
          <a:lstStyle/>
          <a:p>
            <a:pPr marL="228600" marR="0" lvl="0" indent="0" algn="just" rtl="0">
              <a:lnSpc>
                <a:spcPct val="100000"/>
              </a:lnSpc>
              <a:spcBef>
                <a:spcPts val="0"/>
              </a:spcBef>
              <a:spcAft>
                <a:spcPts val="0"/>
              </a:spcAft>
              <a:buClr>
                <a:srgbClr val="000000"/>
              </a:buClr>
              <a:buSzPts val="1400"/>
              <a:buFont typeface="Arial"/>
              <a:buNone/>
            </a:pPr>
            <a:r>
              <a:rPr lang="en-US" sz="1800" b="0" i="0" u="none" strike="noStrike" cap="none">
                <a:solidFill>
                  <a:srgbClr val="000000"/>
                </a:solidFill>
                <a:latin typeface="Calibri"/>
                <a:ea typeface="Calibri"/>
                <a:cs typeface="Calibri"/>
                <a:sym typeface="Calibri"/>
              </a:rPr>
              <a:t>This mode automatically </a:t>
            </a:r>
            <a:r>
              <a:rPr lang="en-US" sz="1800" b="1" i="1" u="none" strike="noStrike" cap="none">
                <a:solidFill>
                  <a:srgbClr val="000000"/>
                </a:solidFill>
                <a:latin typeface="Calibri"/>
                <a:ea typeface="Calibri"/>
                <a:cs typeface="Calibri"/>
                <a:sym typeface="Calibri"/>
              </a:rPr>
              <a:t>adjusts weights inversely proportional to class frequencies</a:t>
            </a:r>
            <a:r>
              <a:rPr lang="en-US" sz="1800" b="0" i="0" u="none" strike="noStrike" cap="none">
                <a:solidFill>
                  <a:srgbClr val="000000"/>
                </a:solidFill>
                <a:latin typeface="Calibri"/>
                <a:ea typeface="Calibri"/>
                <a:cs typeface="Calibri"/>
                <a:sym typeface="Calibri"/>
              </a:rPr>
              <a:t>. This results in </a:t>
            </a:r>
            <a:r>
              <a:rPr lang="en-US" sz="1800" b="1" i="1" u="none" strike="noStrike" cap="none">
                <a:solidFill>
                  <a:srgbClr val="000000"/>
                </a:solidFill>
                <a:latin typeface="Calibri"/>
                <a:ea typeface="Calibri"/>
                <a:cs typeface="Calibri"/>
                <a:sym typeface="Calibri"/>
              </a:rPr>
              <a:t>smaller classes getting a larger weight</a:t>
            </a:r>
            <a:r>
              <a:rPr lang="en-US" sz="1800" b="0" i="0" u="none" strike="noStrike" cap="none">
                <a:solidFill>
                  <a:srgbClr val="000000"/>
                </a:solidFill>
                <a:latin typeface="Calibri"/>
                <a:ea typeface="Calibri"/>
                <a:cs typeface="Calibri"/>
                <a:sym typeface="Calibri"/>
              </a:rPr>
              <a:t>.</a:t>
            </a:r>
            <a:endParaRPr sz="1800">
              <a:latin typeface="Calibri"/>
              <a:ea typeface="Calibri"/>
              <a:cs typeface="Calibri"/>
              <a:sym typeface="Calibri"/>
            </a:endParaRPr>
          </a:p>
          <a:p>
            <a:pPr marL="0" lvl="0" indent="0" algn="just" rtl="0">
              <a:spcBef>
                <a:spcPts val="0"/>
              </a:spcBef>
              <a:spcAft>
                <a:spcPts val="0"/>
              </a:spcAft>
              <a:buClr>
                <a:schemeClr val="dk1"/>
              </a:buClr>
              <a:buSzPts val="1400"/>
              <a:buFont typeface="Arial"/>
              <a:buNone/>
            </a:pPr>
            <a:r>
              <a:rPr lang="en-US" sz="1800">
                <a:solidFill>
                  <a:schemeClr val="dk1"/>
                </a:solidFill>
                <a:latin typeface="Calibri"/>
                <a:ea typeface="Calibri"/>
                <a:cs typeface="Calibri"/>
                <a:sym typeface="Calibri"/>
              </a:rPr>
              <a:t>    tensor([ 1.2246,  1.7311,  1.8822,  1.9967, </a:t>
            </a:r>
            <a:r>
              <a:rPr lang="en-US" sz="1800" b="1" i="1">
                <a:solidFill>
                  <a:schemeClr val="dk1"/>
                </a:solidFill>
                <a:latin typeface="Calibri"/>
                <a:ea typeface="Calibri"/>
                <a:cs typeface="Calibri"/>
                <a:sym typeface="Calibri"/>
              </a:rPr>
              <a:t>18.5037, 41.4808</a:t>
            </a:r>
            <a:r>
              <a:rPr lang="en-US" sz="1800">
                <a:solidFill>
                  <a:schemeClr val="dk1"/>
                </a:solidFill>
                <a:latin typeface="Calibri"/>
                <a:ea typeface="Calibri"/>
                <a:cs typeface="Calibri"/>
                <a:sym typeface="Calibri"/>
              </a:rPr>
              <a:t>], device='cuda:0')</a:t>
            </a:r>
            <a:endParaRPr>
              <a:solidFill>
                <a:schemeClr val="dk1"/>
              </a:solidFill>
            </a:endParaRPr>
          </a:p>
          <a:p>
            <a:pPr marL="228600" marR="0" lvl="0" indent="0" algn="just" rtl="0">
              <a:lnSpc>
                <a:spcPct val="100000"/>
              </a:lnSpc>
              <a:spcBef>
                <a:spcPts val="0"/>
              </a:spcBef>
              <a:spcAft>
                <a:spcPts val="0"/>
              </a:spcAft>
              <a:buClr>
                <a:srgbClr val="000000"/>
              </a:buClr>
              <a:buSzPts val="1400"/>
              <a:buFont typeface="Arial"/>
              <a:buNone/>
            </a:pPr>
            <a:endParaRPr sz="1800">
              <a:latin typeface="Calibri"/>
              <a:ea typeface="Calibri"/>
              <a:cs typeface="Calibri"/>
              <a:sym typeface="Calibri"/>
            </a:endParaRPr>
          </a:p>
        </p:txBody>
      </p:sp>
      <p:sp>
        <p:nvSpPr>
          <p:cNvPr id="196" name="Google Shape;196;p23"/>
          <p:cNvSpPr txBox="1"/>
          <p:nvPr/>
        </p:nvSpPr>
        <p:spPr>
          <a:xfrm>
            <a:off x="751397" y="3813190"/>
            <a:ext cx="3541320" cy="646331"/>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Calibri"/>
                <a:ea typeface="Calibri"/>
                <a:cs typeface="Calibri"/>
                <a:sym typeface="Calibri"/>
              </a:rPr>
              <a:t>clip_grad_norm</a:t>
            </a:r>
            <a:r>
              <a:rPr lang="en-US" sz="1800" b="0" i="0" u="none" strike="noStrike" cap="none">
                <a:solidFill>
                  <a:srgbClr val="000000"/>
                </a:solidFill>
                <a:latin typeface="Calibri"/>
                <a:ea typeface="Calibri"/>
                <a:cs typeface="Calibri"/>
                <a:sym typeface="Calibri"/>
              </a:rPr>
              <a:t>_(model.parameters(), max_norm=1.0)</a:t>
            </a:r>
            <a:endParaRPr sz="1800" b="0" i="0" u="none" strike="noStrike" cap="none">
              <a:solidFill>
                <a:srgbClr val="000000"/>
              </a:solidFill>
              <a:latin typeface="Calibri"/>
              <a:ea typeface="Calibri"/>
              <a:cs typeface="Calibri"/>
              <a:sym typeface="Calibri"/>
            </a:endParaRPr>
          </a:p>
        </p:txBody>
      </p:sp>
      <p:sp>
        <p:nvSpPr>
          <p:cNvPr id="197" name="Google Shape;197;p23"/>
          <p:cNvSpPr txBox="1"/>
          <p:nvPr/>
        </p:nvSpPr>
        <p:spPr>
          <a:xfrm>
            <a:off x="4462132" y="3486597"/>
            <a:ext cx="7596600" cy="1046700"/>
          </a:xfrm>
          <a:prstGeom prst="rect">
            <a:avLst/>
          </a:prstGeom>
          <a:noFill/>
          <a:ln>
            <a:noFill/>
          </a:ln>
        </p:spPr>
        <p:txBody>
          <a:bodyPr spcFirstLastPara="1" wrap="square" lIns="0" tIns="0" rIns="0" bIns="0" anchor="t" anchorCtr="0">
            <a:spAutoFit/>
          </a:bodyPr>
          <a:lstStyle/>
          <a:p>
            <a:pPr marL="228600" marR="0" lvl="0" indent="0" algn="just" rtl="0">
              <a:lnSpc>
                <a:spcPct val="100000"/>
              </a:lnSpc>
              <a:spcBef>
                <a:spcPts val="0"/>
              </a:spcBef>
              <a:spcAft>
                <a:spcPts val="0"/>
              </a:spcAft>
              <a:buClr>
                <a:srgbClr val="000000"/>
              </a:buClr>
              <a:buSzPts val="1400"/>
              <a:buFont typeface="Arial"/>
              <a:buNone/>
            </a:pPr>
            <a:r>
              <a:rPr lang="en-US" sz="1800" b="0" i="0" u="none" strike="noStrike" cap="none">
                <a:solidFill>
                  <a:schemeClr val="dk1"/>
                </a:solidFill>
                <a:latin typeface="Calibri"/>
                <a:ea typeface="Calibri"/>
                <a:cs typeface="Calibri"/>
                <a:sym typeface="Calibri"/>
              </a:rPr>
              <a:t>By capping the gradients, gradient clipping </a:t>
            </a:r>
            <a:r>
              <a:rPr lang="en-US" sz="1800" b="1" i="0" u="none" strike="noStrike" cap="none">
                <a:solidFill>
                  <a:schemeClr val="dk1"/>
                </a:solidFill>
                <a:latin typeface="Calibri"/>
                <a:ea typeface="Calibri"/>
                <a:cs typeface="Calibri"/>
                <a:sym typeface="Calibri"/>
              </a:rPr>
              <a:t>keeps the updates to weights manageable</a:t>
            </a:r>
            <a:r>
              <a:rPr lang="en-US" sz="1800" b="0" i="0" u="none" strike="noStrike" cap="none">
                <a:solidFill>
                  <a:schemeClr val="dk1"/>
                </a:solidFill>
                <a:latin typeface="Calibri"/>
                <a:ea typeface="Calibri"/>
                <a:cs typeface="Calibri"/>
                <a:sym typeface="Calibri"/>
              </a:rPr>
              <a:t>, preventing the weights from becoming too large or NaN during training iterations</a:t>
            </a:r>
            <a:endParaRPr/>
          </a:p>
          <a:p>
            <a:pPr marL="0" marR="0" lvl="0" indent="0" algn="just" rtl="0">
              <a:lnSpc>
                <a:spcPct val="100000"/>
              </a:lnSpc>
              <a:spcBef>
                <a:spcPts val="0"/>
              </a:spcBef>
              <a:spcAft>
                <a:spcPts val="0"/>
              </a:spcAft>
              <a:buClr>
                <a:srgbClr val="000000"/>
              </a:buClr>
              <a:buSzPts val="1400"/>
              <a:buFont typeface="Arial"/>
              <a:buNone/>
            </a:pPr>
            <a:endParaRPr/>
          </a:p>
        </p:txBody>
      </p:sp>
      <p:sp>
        <p:nvSpPr>
          <p:cNvPr id="198" name="Google Shape;198;p23"/>
          <p:cNvSpPr txBox="1"/>
          <p:nvPr/>
        </p:nvSpPr>
        <p:spPr>
          <a:xfrm>
            <a:off x="751397" y="5047036"/>
            <a:ext cx="3541320" cy="36933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weight_decay </a:t>
            </a:r>
            <a:r>
              <a:rPr lang="en-US" sz="1800" b="0" i="0" u="none" strike="noStrike" cap="none">
                <a:solidFill>
                  <a:srgbClr val="000000"/>
                </a:solidFill>
                <a:latin typeface="Arial"/>
                <a:ea typeface="Arial"/>
                <a:cs typeface="Arial"/>
                <a:sym typeface="Arial"/>
              </a:rPr>
              <a:t>= 3e-5</a:t>
            </a:r>
            <a:endParaRPr sz="1400" b="0" i="0" u="none" strike="noStrike" cap="none">
              <a:solidFill>
                <a:srgbClr val="000000"/>
              </a:solidFill>
              <a:latin typeface="Calibri"/>
              <a:ea typeface="Calibri"/>
              <a:cs typeface="Calibri"/>
              <a:sym typeface="Calibri"/>
            </a:endParaRPr>
          </a:p>
        </p:txBody>
      </p:sp>
      <p:sp>
        <p:nvSpPr>
          <p:cNvPr id="199" name="Google Shape;199;p23"/>
          <p:cNvSpPr txBox="1"/>
          <p:nvPr/>
        </p:nvSpPr>
        <p:spPr>
          <a:xfrm>
            <a:off x="4462132" y="5049365"/>
            <a:ext cx="7596608" cy="553998"/>
          </a:xfrm>
          <a:prstGeom prst="rect">
            <a:avLst/>
          </a:prstGeom>
          <a:noFill/>
          <a:ln>
            <a:noFill/>
          </a:ln>
        </p:spPr>
        <p:txBody>
          <a:bodyPr spcFirstLastPara="1" wrap="square" lIns="0" tIns="0" rIns="0" bIns="0" anchor="t" anchorCtr="0">
            <a:spAutoFit/>
          </a:bodyPr>
          <a:lstStyle/>
          <a:p>
            <a:pPr marL="228600" marR="0" lvl="0" indent="0" algn="just" rtl="0">
              <a:lnSpc>
                <a:spcPct val="100000"/>
              </a:lnSpc>
              <a:spcBef>
                <a:spcPts val="0"/>
              </a:spcBef>
              <a:spcAft>
                <a:spcPts val="0"/>
              </a:spcAft>
              <a:buClr>
                <a:srgbClr val="000000"/>
              </a:buClr>
              <a:buSzPts val="1400"/>
              <a:buFont typeface="Arial"/>
              <a:buNone/>
            </a:pPr>
            <a:r>
              <a:rPr lang="en-US" sz="1800" i="0" u="none" strike="noStrike" cap="none">
                <a:solidFill>
                  <a:srgbClr val="000000"/>
                </a:solidFill>
                <a:latin typeface="Calibri"/>
                <a:ea typeface="Calibri"/>
                <a:cs typeface="Calibri"/>
                <a:sym typeface="Calibri"/>
              </a:rPr>
              <a:t>Regularization is </a:t>
            </a:r>
            <a:r>
              <a:rPr lang="en-US" sz="1800" b="1" i="0" u="none" strike="noStrike" cap="none">
                <a:solidFill>
                  <a:srgbClr val="000000"/>
                </a:solidFill>
                <a:latin typeface="Calibri"/>
                <a:ea typeface="Calibri"/>
                <a:cs typeface="Calibri"/>
                <a:sym typeface="Calibri"/>
              </a:rPr>
              <a:t>decoupled from the adaptive rate,</a:t>
            </a:r>
            <a:r>
              <a:rPr lang="en-US" sz="1800" i="0" u="none" strike="noStrike" cap="none">
                <a:solidFill>
                  <a:srgbClr val="000000"/>
                </a:solidFill>
                <a:latin typeface="Calibri"/>
                <a:ea typeface="Calibri"/>
                <a:cs typeface="Calibri"/>
                <a:sym typeface="Calibri"/>
              </a:rPr>
              <a:t> provides a consistent application of weight penalties across all parameters,</a:t>
            </a:r>
            <a:endParaRPr sz="3200" i="0" u="none" strike="noStrike" cap="none">
              <a:solidFill>
                <a:schemeClr val="lt1"/>
              </a:solidFill>
              <a:latin typeface="Calibri"/>
              <a:ea typeface="Calibri"/>
              <a:cs typeface="Calibri"/>
              <a:sym typeface="Calibri"/>
            </a:endParaRPr>
          </a:p>
        </p:txBody>
      </p:sp>
      <p:sp>
        <p:nvSpPr>
          <p:cNvPr id="200" name="Google Shape;200;p23"/>
          <p:cNvSpPr txBox="1"/>
          <p:nvPr/>
        </p:nvSpPr>
        <p:spPr>
          <a:xfrm>
            <a:off x="4444409" y="1650173"/>
            <a:ext cx="7596608" cy="553998"/>
          </a:xfrm>
          <a:prstGeom prst="rect">
            <a:avLst/>
          </a:prstGeom>
          <a:noFill/>
          <a:ln>
            <a:noFill/>
          </a:ln>
        </p:spPr>
        <p:txBody>
          <a:bodyPr spcFirstLastPara="1" wrap="square" lIns="0" tIns="0" rIns="0" bIns="0" anchor="t" anchorCtr="0">
            <a:spAutoFit/>
          </a:bodyPr>
          <a:lstStyle/>
          <a:p>
            <a:pPr marL="228600" marR="0" lvl="0" indent="0" algn="just" rtl="0">
              <a:lnSpc>
                <a:spcPct val="100000"/>
              </a:lnSpc>
              <a:spcBef>
                <a:spcPts val="0"/>
              </a:spcBef>
              <a:spcAft>
                <a:spcPts val="0"/>
              </a:spcAft>
              <a:buClr>
                <a:srgbClr val="000000"/>
              </a:buClr>
              <a:buSzPts val="1400"/>
              <a:buFont typeface="Arial"/>
              <a:buNone/>
            </a:pPr>
            <a:r>
              <a:rPr lang="en-US" sz="1800" i="0" u="none" strike="noStrike" cap="none">
                <a:solidFill>
                  <a:srgbClr val="000000"/>
                </a:solidFill>
                <a:latin typeface="Calibri"/>
                <a:ea typeface="Calibri"/>
                <a:cs typeface="Calibri"/>
                <a:sym typeface="Calibri"/>
              </a:rPr>
              <a:t>Regularization technique used to prevent overfitting by randomly setting a fraction of input units</a:t>
            </a:r>
            <a:endParaRPr sz="3200" i="0" u="none" strike="noStrike" cap="none">
              <a:solidFill>
                <a:schemeClr val="lt1"/>
              </a:solidFill>
              <a:latin typeface="Calibri"/>
              <a:ea typeface="Calibri"/>
              <a:cs typeface="Calibri"/>
              <a:sym typeface="Calibri"/>
            </a:endParaRPr>
          </a:p>
        </p:txBody>
      </p:sp>
      <p:sp>
        <p:nvSpPr>
          <p:cNvPr id="201" name="Google Shape;201;p23"/>
          <p:cNvSpPr txBox="1"/>
          <p:nvPr/>
        </p:nvSpPr>
        <p:spPr>
          <a:xfrm>
            <a:off x="11055985" y="6444999"/>
            <a:ext cx="258300" cy="184800"/>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15</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4"/>
          <p:cNvSpPr txBox="1">
            <a:spLocks noGrp="1"/>
          </p:cNvSpPr>
          <p:nvPr>
            <p:ph type="title"/>
          </p:nvPr>
        </p:nvSpPr>
        <p:spPr>
          <a:xfrm>
            <a:off x="3544960" y="339365"/>
            <a:ext cx="5239500" cy="4926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1400"/>
              <a:buNone/>
            </a:pPr>
            <a:r>
              <a:rPr lang="en-US"/>
              <a:t>Results</a:t>
            </a:r>
            <a:endParaRPr/>
          </a:p>
        </p:txBody>
      </p:sp>
      <p:pic>
        <p:nvPicPr>
          <p:cNvPr id="207" name="Google Shape;207;p24"/>
          <p:cNvPicPr preferRelativeResize="0"/>
          <p:nvPr/>
        </p:nvPicPr>
        <p:blipFill rotWithShape="1">
          <a:blip r:embed="rId3">
            <a:alphaModFix/>
          </a:blip>
          <a:srcRect/>
          <a:stretch/>
        </p:blipFill>
        <p:spPr>
          <a:xfrm>
            <a:off x="711703" y="908478"/>
            <a:ext cx="3635301" cy="2532124"/>
          </a:xfrm>
          <a:prstGeom prst="rect">
            <a:avLst/>
          </a:prstGeom>
          <a:noFill/>
          <a:ln>
            <a:noFill/>
          </a:ln>
        </p:spPr>
      </p:pic>
      <p:pic>
        <p:nvPicPr>
          <p:cNvPr id="208" name="Google Shape;208;p24"/>
          <p:cNvPicPr preferRelativeResize="0"/>
          <p:nvPr/>
        </p:nvPicPr>
        <p:blipFill rotWithShape="1">
          <a:blip r:embed="rId4">
            <a:alphaModFix/>
          </a:blip>
          <a:srcRect/>
          <a:stretch/>
        </p:blipFill>
        <p:spPr>
          <a:xfrm>
            <a:off x="4347053" y="902001"/>
            <a:ext cx="3635302" cy="2593836"/>
          </a:xfrm>
          <a:prstGeom prst="rect">
            <a:avLst/>
          </a:prstGeom>
          <a:noFill/>
          <a:ln>
            <a:noFill/>
          </a:ln>
        </p:spPr>
      </p:pic>
      <p:pic>
        <p:nvPicPr>
          <p:cNvPr id="209" name="Google Shape;209;p24"/>
          <p:cNvPicPr preferRelativeResize="0"/>
          <p:nvPr/>
        </p:nvPicPr>
        <p:blipFill rotWithShape="1">
          <a:blip r:embed="rId5">
            <a:alphaModFix/>
          </a:blip>
          <a:srcRect/>
          <a:stretch/>
        </p:blipFill>
        <p:spPr>
          <a:xfrm>
            <a:off x="8202275" y="964703"/>
            <a:ext cx="3635300" cy="2552422"/>
          </a:xfrm>
          <a:prstGeom prst="rect">
            <a:avLst/>
          </a:prstGeom>
          <a:noFill/>
          <a:ln>
            <a:noFill/>
          </a:ln>
        </p:spPr>
      </p:pic>
      <p:pic>
        <p:nvPicPr>
          <p:cNvPr id="210" name="Google Shape;210;p24"/>
          <p:cNvPicPr preferRelativeResize="0"/>
          <p:nvPr/>
        </p:nvPicPr>
        <p:blipFill rotWithShape="1">
          <a:blip r:embed="rId6">
            <a:alphaModFix/>
          </a:blip>
          <a:srcRect/>
          <a:stretch/>
        </p:blipFill>
        <p:spPr>
          <a:xfrm>
            <a:off x="711703" y="3517122"/>
            <a:ext cx="3635301" cy="2579891"/>
          </a:xfrm>
          <a:prstGeom prst="rect">
            <a:avLst/>
          </a:prstGeom>
          <a:noFill/>
          <a:ln>
            <a:noFill/>
          </a:ln>
        </p:spPr>
      </p:pic>
      <p:pic>
        <p:nvPicPr>
          <p:cNvPr id="211" name="Google Shape;211;p24"/>
          <p:cNvPicPr preferRelativeResize="0"/>
          <p:nvPr/>
        </p:nvPicPr>
        <p:blipFill rotWithShape="1">
          <a:blip r:embed="rId7">
            <a:alphaModFix/>
          </a:blip>
          <a:srcRect/>
          <a:stretch/>
        </p:blipFill>
        <p:spPr>
          <a:xfrm>
            <a:off x="4576237" y="3565855"/>
            <a:ext cx="3524694" cy="2482445"/>
          </a:xfrm>
          <a:prstGeom prst="rect">
            <a:avLst/>
          </a:prstGeom>
          <a:noFill/>
          <a:ln>
            <a:noFill/>
          </a:ln>
        </p:spPr>
      </p:pic>
      <p:pic>
        <p:nvPicPr>
          <p:cNvPr id="212" name="Google Shape;212;p24"/>
          <p:cNvPicPr preferRelativeResize="0"/>
          <p:nvPr/>
        </p:nvPicPr>
        <p:blipFill rotWithShape="1">
          <a:blip r:embed="rId8">
            <a:alphaModFix/>
          </a:blip>
          <a:srcRect/>
          <a:stretch/>
        </p:blipFill>
        <p:spPr>
          <a:xfrm>
            <a:off x="8029863" y="3581746"/>
            <a:ext cx="3650789" cy="2579891"/>
          </a:xfrm>
          <a:prstGeom prst="rect">
            <a:avLst/>
          </a:prstGeom>
          <a:noFill/>
          <a:ln>
            <a:noFill/>
          </a:ln>
        </p:spPr>
      </p:pic>
      <p:sp>
        <p:nvSpPr>
          <p:cNvPr id="213" name="Google Shape;213;p24"/>
          <p:cNvSpPr txBox="1"/>
          <p:nvPr/>
        </p:nvSpPr>
        <p:spPr>
          <a:xfrm>
            <a:off x="11055985" y="6444999"/>
            <a:ext cx="258300" cy="184800"/>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16</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25" descr="A graph of different colored lines&#10;&#10;Description automatically generated"/>
          <p:cNvPicPr preferRelativeResize="0"/>
          <p:nvPr/>
        </p:nvPicPr>
        <p:blipFill rotWithShape="1">
          <a:blip r:embed="rId3">
            <a:alphaModFix/>
          </a:blip>
          <a:srcRect/>
          <a:stretch/>
        </p:blipFill>
        <p:spPr>
          <a:xfrm>
            <a:off x="502388" y="116959"/>
            <a:ext cx="11187224" cy="2945245"/>
          </a:xfrm>
          <a:prstGeom prst="rect">
            <a:avLst/>
          </a:prstGeom>
          <a:noFill/>
          <a:ln>
            <a:noFill/>
          </a:ln>
        </p:spPr>
      </p:pic>
      <p:pic>
        <p:nvPicPr>
          <p:cNvPr id="219" name="Google Shape;219;p25" descr="A graph of different colored lines&#10;&#10;Description automatically generated"/>
          <p:cNvPicPr preferRelativeResize="0"/>
          <p:nvPr/>
        </p:nvPicPr>
        <p:blipFill rotWithShape="1">
          <a:blip r:embed="rId4">
            <a:alphaModFix/>
          </a:blip>
          <a:srcRect/>
          <a:stretch/>
        </p:blipFill>
        <p:spPr>
          <a:xfrm>
            <a:off x="502388" y="3186207"/>
            <a:ext cx="11187224" cy="2963514"/>
          </a:xfrm>
          <a:prstGeom prst="rect">
            <a:avLst/>
          </a:prstGeom>
          <a:noFill/>
          <a:ln>
            <a:noFill/>
          </a:ln>
        </p:spPr>
      </p:pic>
      <p:sp>
        <p:nvSpPr>
          <p:cNvPr id="220" name="Google Shape;220;p25"/>
          <p:cNvSpPr txBox="1"/>
          <p:nvPr/>
        </p:nvSpPr>
        <p:spPr>
          <a:xfrm>
            <a:off x="11055985" y="6444999"/>
            <a:ext cx="258300" cy="184800"/>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17</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p26" descr="A graph of different colored lines&#10;&#10;Description automatically generated with medium confidence"/>
          <p:cNvPicPr preferRelativeResize="0"/>
          <p:nvPr/>
        </p:nvPicPr>
        <p:blipFill rotWithShape="1">
          <a:blip r:embed="rId3">
            <a:alphaModFix/>
          </a:blip>
          <a:srcRect/>
          <a:stretch/>
        </p:blipFill>
        <p:spPr>
          <a:xfrm>
            <a:off x="508590" y="191386"/>
            <a:ext cx="11174819" cy="2777580"/>
          </a:xfrm>
          <a:prstGeom prst="rect">
            <a:avLst/>
          </a:prstGeom>
          <a:noFill/>
          <a:ln>
            <a:noFill/>
          </a:ln>
        </p:spPr>
      </p:pic>
      <p:pic>
        <p:nvPicPr>
          <p:cNvPr id="226" name="Google Shape;226;p26" descr="A graph of different colored lines&#10;&#10;Description automatically generated"/>
          <p:cNvPicPr preferRelativeResize="0"/>
          <p:nvPr/>
        </p:nvPicPr>
        <p:blipFill rotWithShape="1">
          <a:blip r:embed="rId4">
            <a:alphaModFix/>
          </a:blip>
          <a:srcRect/>
          <a:stretch/>
        </p:blipFill>
        <p:spPr>
          <a:xfrm>
            <a:off x="599852" y="3234987"/>
            <a:ext cx="11083557" cy="2871978"/>
          </a:xfrm>
          <a:prstGeom prst="rect">
            <a:avLst/>
          </a:prstGeom>
          <a:noFill/>
          <a:ln>
            <a:noFill/>
          </a:ln>
        </p:spPr>
      </p:pic>
      <p:sp>
        <p:nvSpPr>
          <p:cNvPr id="227" name="Google Shape;227;p26"/>
          <p:cNvSpPr txBox="1"/>
          <p:nvPr/>
        </p:nvSpPr>
        <p:spPr>
          <a:xfrm>
            <a:off x="11055985" y="6444999"/>
            <a:ext cx="258300" cy="184800"/>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18</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pic>
        <p:nvPicPr>
          <p:cNvPr id="232" name="Google Shape;232;p27" descr="A graph of different colored lines&#10;&#10;Description automatically generated"/>
          <p:cNvPicPr preferRelativeResize="0"/>
          <p:nvPr/>
        </p:nvPicPr>
        <p:blipFill rotWithShape="1">
          <a:blip r:embed="rId3">
            <a:alphaModFix/>
          </a:blip>
          <a:srcRect/>
          <a:stretch/>
        </p:blipFill>
        <p:spPr>
          <a:xfrm>
            <a:off x="446568" y="167684"/>
            <a:ext cx="11249246" cy="2911127"/>
          </a:xfrm>
          <a:prstGeom prst="rect">
            <a:avLst/>
          </a:prstGeom>
          <a:noFill/>
          <a:ln>
            <a:noFill/>
          </a:ln>
        </p:spPr>
      </p:pic>
      <p:pic>
        <p:nvPicPr>
          <p:cNvPr id="233" name="Google Shape;233;p27" descr="A graph of different colored lines&#10;&#10;Description automatically generated"/>
          <p:cNvPicPr preferRelativeResize="0"/>
          <p:nvPr/>
        </p:nvPicPr>
        <p:blipFill rotWithShape="1">
          <a:blip r:embed="rId4">
            <a:alphaModFix/>
          </a:blip>
          <a:srcRect/>
          <a:stretch/>
        </p:blipFill>
        <p:spPr>
          <a:xfrm>
            <a:off x="446567" y="3280142"/>
            <a:ext cx="11249245" cy="2839658"/>
          </a:xfrm>
          <a:prstGeom prst="rect">
            <a:avLst/>
          </a:prstGeom>
          <a:noFill/>
          <a:ln>
            <a:noFill/>
          </a:ln>
        </p:spPr>
      </p:pic>
      <p:sp>
        <p:nvSpPr>
          <p:cNvPr id="234" name="Google Shape;234;p27"/>
          <p:cNvSpPr txBox="1"/>
          <p:nvPr/>
        </p:nvSpPr>
        <p:spPr>
          <a:xfrm>
            <a:off x="11055985" y="6444999"/>
            <a:ext cx="258300" cy="184800"/>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19</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9"/>
          <p:cNvSpPr txBox="1">
            <a:spLocks noGrp="1"/>
          </p:cNvSpPr>
          <p:nvPr>
            <p:ph type="title"/>
          </p:nvPr>
        </p:nvSpPr>
        <p:spPr>
          <a:xfrm>
            <a:off x="732968" y="604947"/>
            <a:ext cx="58755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b="1">
                <a:latin typeface="Calibri"/>
                <a:ea typeface="Calibri"/>
                <a:cs typeface="Calibri"/>
                <a:sym typeface="Calibri"/>
              </a:rPr>
              <a:t>CONCLUSION &amp; FUTURE SCOPE</a:t>
            </a:r>
            <a:endParaRPr/>
          </a:p>
        </p:txBody>
      </p:sp>
      <p:sp>
        <p:nvSpPr>
          <p:cNvPr id="240" name="Google Shape;240;p29"/>
          <p:cNvSpPr txBox="1"/>
          <p:nvPr/>
        </p:nvSpPr>
        <p:spPr>
          <a:xfrm>
            <a:off x="732975" y="1163000"/>
            <a:ext cx="10352400" cy="4144500"/>
          </a:xfrm>
          <a:prstGeom prst="rect">
            <a:avLst/>
          </a:prstGeom>
          <a:noFill/>
          <a:ln>
            <a:noFill/>
          </a:ln>
        </p:spPr>
        <p:txBody>
          <a:bodyPr spcFirstLastPara="1" wrap="square" lIns="91425" tIns="91425" rIns="91425" bIns="91425" anchor="t" anchorCtr="0">
            <a:noAutofit/>
          </a:bodyPr>
          <a:lstStyle/>
          <a:p>
            <a:pPr marL="457200" lvl="0" indent="-323850" algn="l" rtl="0">
              <a:lnSpc>
                <a:spcPct val="150000"/>
              </a:lnSpc>
              <a:spcBef>
                <a:spcPts val="0"/>
              </a:spcBef>
              <a:spcAft>
                <a:spcPts val="0"/>
              </a:spcAft>
              <a:buClr>
                <a:schemeClr val="dk1"/>
              </a:buClr>
              <a:buSzPts val="1500"/>
              <a:buFont typeface="Calibri"/>
              <a:buChar char="●"/>
            </a:pPr>
            <a:r>
              <a:rPr lang="en-US" sz="1500" b="1">
                <a:solidFill>
                  <a:schemeClr val="dk1"/>
                </a:solidFill>
                <a:latin typeface="Calibri"/>
                <a:ea typeface="Calibri"/>
                <a:cs typeface="Calibri"/>
                <a:sym typeface="Calibri"/>
              </a:rPr>
              <a:t>Preprocessing Enhances Performance</a:t>
            </a:r>
            <a:r>
              <a:rPr lang="en-US" sz="1500">
                <a:solidFill>
                  <a:schemeClr val="dk1"/>
                </a:solidFill>
                <a:latin typeface="Calibri"/>
                <a:ea typeface="Calibri"/>
                <a:cs typeface="Calibri"/>
                <a:sym typeface="Calibri"/>
              </a:rPr>
              <a:t>: Preprocessing improved all metrics across both feature extraction methods, with the most notable gains in accuracy, recall, and F1 score. TF-IDF combined with Logistic Regression consistently outperformed other combinations, achieving the best balance across metrics.</a:t>
            </a:r>
            <a:endParaRPr sz="1500">
              <a:solidFill>
                <a:schemeClr val="dk1"/>
              </a:solidFill>
              <a:latin typeface="Calibri"/>
              <a:ea typeface="Calibri"/>
              <a:cs typeface="Calibri"/>
              <a:sym typeface="Calibri"/>
            </a:endParaRPr>
          </a:p>
          <a:p>
            <a:pPr marL="457200" lvl="0" indent="-323850" algn="l" rtl="0">
              <a:lnSpc>
                <a:spcPct val="150000"/>
              </a:lnSpc>
              <a:spcBef>
                <a:spcPts val="0"/>
              </a:spcBef>
              <a:spcAft>
                <a:spcPts val="0"/>
              </a:spcAft>
              <a:buClr>
                <a:schemeClr val="dk1"/>
              </a:buClr>
              <a:buSzPts val="1500"/>
              <a:buFont typeface="Calibri"/>
              <a:buChar char="●"/>
            </a:pPr>
            <a:r>
              <a:rPr lang="en-US" sz="1500" b="1">
                <a:solidFill>
                  <a:schemeClr val="dk1"/>
                </a:solidFill>
                <a:latin typeface="Calibri"/>
                <a:ea typeface="Calibri"/>
                <a:cs typeface="Calibri"/>
                <a:sym typeface="Calibri"/>
              </a:rPr>
              <a:t>TF-IDF and Label Powerset Dominate</a:t>
            </a:r>
            <a:r>
              <a:rPr lang="en-US" sz="1500">
                <a:solidFill>
                  <a:schemeClr val="dk1"/>
                </a:solidFill>
                <a:latin typeface="Calibri"/>
                <a:ea typeface="Calibri"/>
                <a:cs typeface="Calibri"/>
                <a:sym typeface="Calibri"/>
              </a:rPr>
              <a:t>: TF-IDF, paired with the Label Powerset technique, delivered the highest overall performance both before and after preprocessing, highlighting its effectiveness in capturing meaningful text features for multilabel classification.</a:t>
            </a:r>
            <a:endParaRPr sz="1500">
              <a:solidFill>
                <a:schemeClr val="dk1"/>
              </a:solidFill>
              <a:latin typeface="Calibri"/>
              <a:ea typeface="Calibri"/>
              <a:cs typeface="Calibri"/>
              <a:sym typeface="Calibri"/>
            </a:endParaRPr>
          </a:p>
          <a:p>
            <a:pPr marL="457200" lvl="0" indent="-323850" algn="l" rtl="0">
              <a:lnSpc>
                <a:spcPct val="150000"/>
              </a:lnSpc>
              <a:spcBef>
                <a:spcPts val="0"/>
              </a:spcBef>
              <a:spcAft>
                <a:spcPts val="0"/>
              </a:spcAft>
              <a:buClr>
                <a:schemeClr val="dk1"/>
              </a:buClr>
              <a:buSzPts val="1500"/>
              <a:buFont typeface="Calibri"/>
              <a:buChar char="●"/>
            </a:pPr>
            <a:r>
              <a:rPr lang="en-US" sz="1500" b="1">
                <a:solidFill>
                  <a:schemeClr val="dk1"/>
                </a:solidFill>
                <a:latin typeface="Calibri"/>
                <a:ea typeface="Calibri"/>
                <a:cs typeface="Calibri"/>
                <a:sym typeface="Calibri"/>
              </a:rPr>
              <a:t>Fluctuations in few labels</a:t>
            </a:r>
            <a:r>
              <a:rPr lang="en-US" sz="1500">
                <a:solidFill>
                  <a:schemeClr val="dk1"/>
                </a:solidFill>
                <a:latin typeface="Calibri"/>
                <a:ea typeface="Calibri"/>
                <a:cs typeface="Calibri"/>
                <a:sym typeface="Calibri"/>
              </a:rPr>
              <a:t>: Across various categories, high training accuracy and improvements in F1 score and MCC indicate effective learning. However, significant variability in test performance, particularly in Physics, Statistics, Quantitative Biology and Quantitative Finance suggests potential overfitting, underscoring the challenge of achieving effective generalization to unseen data without adopting biases from training set.</a:t>
            </a:r>
            <a:endParaRPr sz="1500">
              <a:solidFill>
                <a:schemeClr val="dk1"/>
              </a:solidFill>
              <a:latin typeface="Calibri"/>
              <a:ea typeface="Calibri"/>
              <a:cs typeface="Calibri"/>
              <a:sym typeface="Calibri"/>
            </a:endParaRPr>
          </a:p>
          <a:p>
            <a:pPr marL="457200" lvl="0" indent="0" algn="l" rtl="0">
              <a:spcBef>
                <a:spcPts val="0"/>
              </a:spcBef>
              <a:spcAft>
                <a:spcPts val="0"/>
              </a:spcAft>
              <a:buNone/>
            </a:pPr>
            <a:endParaRPr sz="1500">
              <a:solidFill>
                <a:schemeClr val="dk1"/>
              </a:solidFill>
              <a:latin typeface="Calibri"/>
              <a:ea typeface="Calibri"/>
              <a:cs typeface="Calibri"/>
              <a:sym typeface="Calibri"/>
            </a:endParaRPr>
          </a:p>
        </p:txBody>
      </p:sp>
      <p:sp>
        <p:nvSpPr>
          <p:cNvPr id="241" name="Google Shape;241;p29"/>
          <p:cNvSpPr txBox="1"/>
          <p:nvPr/>
        </p:nvSpPr>
        <p:spPr>
          <a:xfrm>
            <a:off x="11055985" y="6444999"/>
            <a:ext cx="258300" cy="184800"/>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20</a:t>
            </a:fld>
            <a:endParaRPr sz="1200" b="0" i="0" u="none" strike="noStrike" cap="none">
              <a:solidFill>
                <a:schemeClr val="lt1"/>
              </a:solidFill>
              <a:latin typeface="Arial"/>
              <a:ea typeface="Arial"/>
              <a:cs typeface="Arial"/>
              <a:sym typeface="Arial"/>
            </a:endParaRPr>
          </a:p>
        </p:txBody>
      </p:sp>
      <p:sp>
        <p:nvSpPr>
          <p:cNvPr id="242" name="Google Shape;242;p29"/>
          <p:cNvSpPr txBox="1"/>
          <p:nvPr/>
        </p:nvSpPr>
        <p:spPr>
          <a:xfrm>
            <a:off x="732975" y="4774375"/>
            <a:ext cx="10352400" cy="8559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1500" b="1">
                <a:solidFill>
                  <a:schemeClr val="dk1"/>
                </a:solidFill>
                <a:latin typeface="Calibri"/>
                <a:ea typeface="Calibri"/>
                <a:cs typeface="Calibri"/>
                <a:sym typeface="Calibri"/>
              </a:rPr>
              <a:t>Original sentence 	: “</a:t>
            </a:r>
            <a:r>
              <a:rPr lang="en-US" sz="1500">
                <a:solidFill>
                  <a:schemeClr val="dk1"/>
                </a:solidFill>
                <a:latin typeface="Calibri"/>
                <a:ea typeface="Calibri"/>
                <a:cs typeface="Calibri"/>
                <a:sym typeface="Calibri"/>
              </a:rPr>
              <a:t>International crop trade networks: The impact of shocks and cascades” </a:t>
            </a:r>
            <a:endParaRPr sz="1500">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r>
              <a:rPr lang="en-US" sz="1500" b="1">
                <a:solidFill>
                  <a:schemeClr val="dk1"/>
                </a:solidFill>
                <a:latin typeface="Calibri"/>
                <a:ea typeface="Calibri"/>
                <a:cs typeface="Calibri"/>
                <a:sym typeface="Calibri"/>
              </a:rPr>
              <a:t>Paraphrased sentence  : “</a:t>
            </a:r>
            <a:r>
              <a:rPr lang="en-US" sz="1500">
                <a:solidFill>
                  <a:schemeClr val="dk1"/>
                </a:solidFill>
                <a:latin typeface="Calibri"/>
                <a:ea typeface="Calibri"/>
                <a:cs typeface="Calibri"/>
                <a:sym typeface="Calibri"/>
              </a:rPr>
              <a:t>Global agricultural trade networks: Effects of disruptions and ripple effects”</a:t>
            </a:r>
            <a:endParaRPr sz="1500">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endParaRPr sz="1500">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endParaRPr sz="1500">
              <a:solidFill>
                <a:schemeClr val="dk1"/>
              </a:solidFill>
              <a:latin typeface="Calibri"/>
              <a:ea typeface="Calibri"/>
              <a:cs typeface="Calibri"/>
              <a:sym typeface="Calibri"/>
            </a:endParaRPr>
          </a:p>
          <a:p>
            <a:pPr marL="457200" lvl="0" indent="0" algn="l" rtl="0">
              <a:spcBef>
                <a:spcPts val="0"/>
              </a:spcBef>
              <a:spcAft>
                <a:spcPts val="0"/>
              </a:spcAft>
              <a:buNone/>
            </a:pPr>
            <a:endParaRPr sz="15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1"/>
          <p:cNvSpPr txBox="1">
            <a:spLocks noGrp="1"/>
          </p:cNvSpPr>
          <p:nvPr>
            <p:ph type="title"/>
          </p:nvPr>
        </p:nvSpPr>
        <p:spPr>
          <a:xfrm>
            <a:off x="732968" y="604947"/>
            <a:ext cx="5239385" cy="5130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References</a:t>
            </a:r>
            <a:endParaRPr/>
          </a:p>
        </p:txBody>
      </p:sp>
      <p:sp>
        <p:nvSpPr>
          <p:cNvPr id="248" name="Google Shape;248;p11"/>
          <p:cNvSpPr txBox="1"/>
          <p:nvPr/>
        </p:nvSpPr>
        <p:spPr>
          <a:xfrm>
            <a:off x="732968" y="1278999"/>
            <a:ext cx="10437300" cy="5166000"/>
          </a:xfrm>
          <a:prstGeom prst="rect">
            <a:avLst/>
          </a:prstGeom>
          <a:noFill/>
          <a:ln>
            <a:noFill/>
          </a:ln>
        </p:spPr>
        <p:txBody>
          <a:bodyPr spcFirstLastPara="1" wrap="square" lIns="0" tIns="12700" rIns="0" bIns="0" anchor="t" anchorCtr="0">
            <a:spAutoFit/>
          </a:bodyPr>
          <a:lstStyle/>
          <a:p>
            <a:pPr marL="457200" marR="5080" lvl="0" indent="0" algn="just" rtl="0">
              <a:lnSpc>
                <a:spcPct val="115000"/>
              </a:lnSpc>
              <a:spcBef>
                <a:spcPts val="0"/>
              </a:spcBef>
              <a:spcAft>
                <a:spcPts val="0"/>
              </a:spcAft>
              <a:buNone/>
            </a:pPr>
            <a:endParaRPr dirty="0"/>
          </a:p>
          <a:p>
            <a:pPr marL="457200" marR="5080" lvl="0" indent="-323850" algn="just" rtl="0">
              <a:lnSpc>
                <a:spcPct val="115000"/>
              </a:lnSpc>
              <a:spcBef>
                <a:spcPts val="0"/>
              </a:spcBef>
              <a:spcAft>
                <a:spcPts val="0"/>
              </a:spcAft>
              <a:buClr>
                <a:schemeClr val="dk1"/>
              </a:buClr>
              <a:buSzPts val="1500"/>
              <a:buFont typeface="Calibri"/>
              <a:buChar char="●"/>
            </a:pPr>
            <a:r>
              <a:rPr lang="en-US" sz="1500" dirty="0">
                <a:solidFill>
                  <a:schemeClr val="dk1"/>
                </a:solidFill>
                <a:latin typeface="Calibri"/>
                <a:ea typeface="Calibri"/>
                <a:cs typeface="Calibri"/>
                <a:sym typeface="Calibri"/>
              </a:rPr>
              <a:t>N. K. Mishra and P. K. Singh, “Feature construction and SMOTE-based imbalance handling for multi-label learning,” Journal of Computational Science, vol. 54, p. 101468, 2021. </a:t>
            </a:r>
            <a:r>
              <a:rPr lang="en-US" sz="1500" dirty="0" err="1">
                <a:solidFill>
                  <a:schemeClr val="dk1"/>
                </a:solidFill>
                <a:latin typeface="Calibri"/>
                <a:ea typeface="Calibri"/>
                <a:cs typeface="Calibri"/>
                <a:sym typeface="Calibri"/>
              </a:rPr>
              <a:t>doi</a:t>
            </a:r>
            <a:r>
              <a:rPr lang="en-US" sz="1500" dirty="0">
                <a:solidFill>
                  <a:schemeClr val="dk1"/>
                </a:solidFill>
                <a:latin typeface="Calibri"/>
                <a:ea typeface="Calibri"/>
                <a:cs typeface="Calibri"/>
                <a:sym typeface="Calibri"/>
              </a:rPr>
              <a:t>: 10.1016/j.jocs.2021.101468.</a:t>
            </a:r>
            <a:endParaRPr sz="1500" i="0" u="none" strike="noStrike" cap="none" dirty="0">
              <a:solidFill>
                <a:schemeClr val="dk1"/>
              </a:solidFill>
              <a:latin typeface="Calibri"/>
              <a:ea typeface="Calibri"/>
              <a:cs typeface="Calibri"/>
              <a:sym typeface="Calibri"/>
            </a:endParaRPr>
          </a:p>
          <a:p>
            <a:pPr marL="457200" lvl="0" indent="-323850" algn="l" rtl="0">
              <a:lnSpc>
                <a:spcPct val="115000"/>
              </a:lnSpc>
              <a:spcBef>
                <a:spcPts val="0"/>
              </a:spcBef>
              <a:spcAft>
                <a:spcPts val="0"/>
              </a:spcAft>
              <a:buClr>
                <a:schemeClr val="dk1"/>
              </a:buClr>
              <a:buSzPts val="1500"/>
              <a:buFont typeface="Calibri"/>
              <a:buChar char="●"/>
            </a:pPr>
            <a:r>
              <a:rPr lang="en-US" sz="1500" dirty="0">
                <a:solidFill>
                  <a:schemeClr val="dk1"/>
                </a:solidFill>
                <a:latin typeface="Calibri"/>
                <a:ea typeface="Calibri"/>
                <a:cs typeface="Calibri"/>
                <a:sym typeface="Calibri"/>
              </a:rPr>
              <a:t>B. R. </a:t>
            </a:r>
            <a:r>
              <a:rPr lang="en-US" sz="1500" dirty="0" err="1">
                <a:solidFill>
                  <a:schemeClr val="dk1"/>
                </a:solidFill>
                <a:latin typeface="Calibri"/>
                <a:ea typeface="Calibri"/>
                <a:cs typeface="Calibri"/>
                <a:sym typeface="Calibri"/>
              </a:rPr>
              <a:t>Bhamare</a:t>
            </a:r>
            <a:r>
              <a:rPr lang="en-US" sz="1500" dirty="0">
                <a:solidFill>
                  <a:schemeClr val="dk1"/>
                </a:solidFill>
                <a:latin typeface="Calibri"/>
                <a:ea typeface="Calibri"/>
                <a:cs typeface="Calibri"/>
                <a:sym typeface="Calibri"/>
              </a:rPr>
              <a:t> and J. Prabhu, “A multilabel classifier for text classification and enhanced BERT </a:t>
            </a:r>
            <a:r>
              <a:rPr lang="en-US" sz="1500" dirty="0" err="1">
                <a:solidFill>
                  <a:schemeClr val="dk1"/>
                </a:solidFill>
                <a:latin typeface="Calibri"/>
                <a:ea typeface="Calibri"/>
                <a:cs typeface="Calibri"/>
                <a:sym typeface="Calibri"/>
              </a:rPr>
              <a:t>system,”ResearchGate</a:t>
            </a:r>
            <a:r>
              <a:rPr lang="en-US" sz="1500" dirty="0">
                <a:solidFill>
                  <a:schemeClr val="dk1"/>
                </a:solidFill>
                <a:latin typeface="Calibri"/>
                <a:ea typeface="Calibri"/>
                <a:cs typeface="Calibri"/>
                <a:sym typeface="Calibri"/>
              </a:rPr>
              <a:t>, 2021. https://</a:t>
            </a:r>
            <a:r>
              <a:rPr lang="en-US" sz="1500" dirty="0" err="1">
                <a:solidFill>
                  <a:schemeClr val="dk1"/>
                </a:solidFill>
                <a:latin typeface="Calibri"/>
                <a:ea typeface="Calibri"/>
                <a:cs typeface="Calibri"/>
                <a:sym typeface="Calibri"/>
              </a:rPr>
              <a:t>www.researchgate.net</a:t>
            </a:r>
            <a:r>
              <a:rPr lang="en-US" sz="1500" dirty="0">
                <a:solidFill>
                  <a:schemeClr val="dk1"/>
                </a:solidFill>
                <a:latin typeface="Calibri"/>
                <a:ea typeface="Calibri"/>
                <a:cs typeface="Calibri"/>
                <a:sym typeface="Calibri"/>
              </a:rPr>
              <a:t>/publication/351880052_A_Multilabel_Classifier_for_Text_Classification_and_Enhanced_BERT_System.</a:t>
            </a:r>
            <a:endParaRPr sz="1500" dirty="0">
              <a:solidFill>
                <a:schemeClr val="dk1"/>
              </a:solidFill>
              <a:latin typeface="Calibri"/>
              <a:ea typeface="Calibri"/>
              <a:cs typeface="Calibri"/>
              <a:sym typeface="Calibri"/>
            </a:endParaRPr>
          </a:p>
          <a:p>
            <a:pPr marL="457200" lvl="0" indent="-323850" algn="l" rtl="0">
              <a:lnSpc>
                <a:spcPct val="115000"/>
              </a:lnSpc>
              <a:spcBef>
                <a:spcPts val="0"/>
              </a:spcBef>
              <a:spcAft>
                <a:spcPts val="0"/>
              </a:spcAft>
              <a:buClr>
                <a:schemeClr val="dk1"/>
              </a:buClr>
              <a:buSzPts val="1500"/>
              <a:buFont typeface="Calibri"/>
              <a:buChar char="●"/>
            </a:pPr>
            <a:r>
              <a:rPr lang="en-US" sz="1500" dirty="0">
                <a:solidFill>
                  <a:schemeClr val="dk1"/>
                </a:solidFill>
                <a:latin typeface="Calibri"/>
                <a:ea typeface="Calibri"/>
                <a:cs typeface="Calibri"/>
                <a:sym typeface="Calibri"/>
              </a:rPr>
              <a:t>J. Nam, J. Kim, E. </a:t>
            </a:r>
            <a:r>
              <a:rPr lang="en-US" sz="1500" dirty="0" err="1">
                <a:solidFill>
                  <a:schemeClr val="dk1"/>
                </a:solidFill>
                <a:latin typeface="Calibri"/>
                <a:ea typeface="Calibri"/>
                <a:cs typeface="Calibri"/>
                <a:sym typeface="Calibri"/>
              </a:rPr>
              <a:t>Loza</a:t>
            </a:r>
            <a:r>
              <a:rPr lang="en-US" sz="1500" dirty="0">
                <a:solidFill>
                  <a:schemeClr val="dk1"/>
                </a:solidFill>
                <a:latin typeface="Calibri"/>
                <a:ea typeface="Calibri"/>
                <a:cs typeface="Calibri"/>
                <a:sym typeface="Calibri"/>
              </a:rPr>
              <a:t> </a:t>
            </a:r>
            <a:r>
              <a:rPr lang="en-US" sz="1500" dirty="0" err="1">
                <a:solidFill>
                  <a:schemeClr val="dk1"/>
                </a:solidFill>
                <a:latin typeface="Calibri"/>
                <a:ea typeface="Calibri"/>
                <a:cs typeface="Calibri"/>
                <a:sym typeface="Calibri"/>
              </a:rPr>
              <a:t>Menc</a:t>
            </a:r>
            <a:r>
              <a:rPr lang="en-US" sz="1500" dirty="0">
                <a:solidFill>
                  <a:schemeClr val="dk1"/>
                </a:solidFill>
                <a:latin typeface="Calibri"/>
                <a:ea typeface="Calibri"/>
                <a:cs typeface="Calibri"/>
                <a:sym typeface="Calibri"/>
              </a:rPr>
              <a:t>, I. </a:t>
            </a:r>
            <a:r>
              <a:rPr lang="en-US" sz="1500" dirty="0" err="1">
                <a:solidFill>
                  <a:schemeClr val="dk1"/>
                </a:solidFill>
                <a:latin typeface="Calibri"/>
                <a:ea typeface="Calibri"/>
                <a:cs typeface="Calibri"/>
                <a:sym typeface="Calibri"/>
              </a:rPr>
              <a:t>Gurevych,and</a:t>
            </a:r>
            <a:r>
              <a:rPr lang="en-US" sz="1500" dirty="0">
                <a:solidFill>
                  <a:schemeClr val="dk1"/>
                </a:solidFill>
                <a:latin typeface="Calibri"/>
                <a:ea typeface="Calibri"/>
                <a:cs typeface="Calibri"/>
                <a:sym typeface="Calibri"/>
              </a:rPr>
              <a:t> J. </a:t>
            </a:r>
            <a:r>
              <a:rPr lang="en-US" sz="1500" dirty="0" err="1">
                <a:solidFill>
                  <a:schemeClr val="dk1"/>
                </a:solidFill>
                <a:latin typeface="Calibri"/>
                <a:ea typeface="Calibri"/>
                <a:cs typeface="Calibri"/>
                <a:sym typeface="Calibri"/>
              </a:rPr>
              <a:t>Furnkranz</a:t>
            </a:r>
            <a:r>
              <a:rPr lang="en-US" sz="1500" dirty="0">
                <a:solidFill>
                  <a:schemeClr val="dk1"/>
                </a:solidFill>
                <a:latin typeface="Calibri"/>
                <a:ea typeface="Calibri"/>
                <a:cs typeface="Calibri"/>
                <a:sym typeface="Calibri"/>
              </a:rPr>
              <a:t>, “Large-scale multi-label text classification — Revisiting neural </a:t>
            </a:r>
            <a:r>
              <a:rPr lang="en-US" sz="1500" dirty="0" err="1">
                <a:solidFill>
                  <a:schemeClr val="dk1"/>
                </a:solidFill>
                <a:latin typeface="Calibri"/>
                <a:ea typeface="Calibri"/>
                <a:cs typeface="Calibri"/>
                <a:sym typeface="Calibri"/>
              </a:rPr>
              <a:t>networks,”ResearchGate</a:t>
            </a:r>
            <a:r>
              <a:rPr lang="en-US" sz="1500" dirty="0">
                <a:solidFill>
                  <a:schemeClr val="dk1"/>
                </a:solidFill>
                <a:latin typeface="Calibri"/>
                <a:ea typeface="Calibri"/>
                <a:cs typeface="Calibri"/>
                <a:sym typeface="Calibri"/>
              </a:rPr>
              <a:t>, 2013. https://</a:t>
            </a:r>
            <a:r>
              <a:rPr lang="en-US" sz="1500" dirty="0" err="1">
                <a:solidFill>
                  <a:schemeClr val="dk1"/>
                </a:solidFill>
                <a:latin typeface="Calibri"/>
                <a:ea typeface="Calibri"/>
                <a:cs typeface="Calibri"/>
                <a:sym typeface="Calibri"/>
              </a:rPr>
              <a:t>www.researchgate.net</a:t>
            </a:r>
            <a:r>
              <a:rPr lang="en-US" sz="1500" dirty="0">
                <a:solidFill>
                  <a:schemeClr val="dk1"/>
                </a:solidFill>
                <a:latin typeface="Calibri"/>
                <a:ea typeface="Calibri"/>
                <a:cs typeface="Calibri"/>
                <a:sym typeface="Calibri"/>
              </a:rPr>
              <a:t>/publication/259367487_Large-Scale_Multi-label_Text_Classification_-_Revisiting_Neural_Networks.</a:t>
            </a:r>
            <a:endParaRPr sz="1500" dirty="0">
              <a:solidFill>
                <a:schemeClr val="dk1"/>
              </a:solidFill>
              <a:latin typeface="Calibri"/>
              <a:ea typeface="Calibri"/>
              <a:cs typeface="Calibri"/>
              <a:sym typeface="Calibri"/>
            </a:endParaRPr>
          </a:p>
          <a:p>
            <a:pPr marL="457200" lvl="0" indent="-323850" algn="l" rtl="0">
              <a:lnSpc>
                <a:spcPct val="115000"/>
              </a:lnSpc>
              <a:spcBef>
                <a:spcPts val="0"/>
              </a:spcBef>
              <a:spcAft>
                <a:spcPts val="0"/>
              </a:spcAft>
              <a:buClr>
                <a:schemeClr val="dk1"/>
              </a:buClr>
              <a:buSzPts val="1500"/>
              <a:buFont typeface="Calibri"/>
              <a:buChar char="●"/>
            </a:pPr>
            <a:r>
              <a:rPr lang="en-US" sz="1500" dirty="0">
                <a:solidFill>
                  <a:schemeClr val="dk1"/>
                </a:solidFill>
                <a:latin typeface="Calibri"/>
                <a:ea typeface="Calibri"/>
                <a:cs typeface="Calibri"/>
                <a:sym typeface="Calibri"/>
              </a:rPr>
              <a:t>A. Y. Taha, S. </a:t>
            </a:r>
            <a:r>
              <a:rPr lang="en-US" sz="1500" dirty="0" err="1">
                <a:solidFill>
                  <a:schemeClr val="dk1"/>
                </a:solidFill>
                <a:latin typeface="Calibri"/>
                <a:ea typeface="Calibri"/>
                <a:cs typeface="Calibri"/>
                <a:sym typeface="Calibri"/>
              </a:rPr>
              <a:t>Tiun</a:t>
            </a:r>
            <a:r>
              <a:rPr lang="en-US" sz="1500" dirty="0">
                <a:solidFill>
                  <a:schemeClr val="dk1"/>
                </a:solidFill>
                <a:latin typeface="Calibri"/>
                <a:ea typeface="Calibri"/>
                <a:cs typeface="Calibri"/>
                <a:sym typeface="Calibri"/>
              </a:rPr>
              <a:t>, A. H. Abd Rahman, and A. Sabah, “Multilabel over-sampling and under-sampling with class alignment for imbalanced multilabel text classification,” ResearchGate, 2021. https://</a:t>
            </a:r>
            <a:r>
              <a:rPr lang="en-US" sz="1500" dirty="0" err="1">
                <a:solidFill>
                  <a:schemeClr val="dk1"/>
                </a:solidFill>
                <a:latin typeface="Calibri"/>
                <a:ea typeface="Calibri"/>
                <a:cs typeface="Calibri"/>
                <a:sym typeface="Calibri"/>
              </a:rPr>
              <a:t>www.researchgate.net</a:t>
            </a:r>
            <a:r>
              <a:rPr lang="en-US" sz="1500" dirty="0">
                <a:solidFill>
                  <a:schemeClr val="dk1"/>
                </a:solidFill>
                <a:latin typeface="Calibri"/>
                <a:ea typeface="Calibri"/>
                <a:cs typeface="Calibri"/>
                <a:sym typeface="Calibri"/>
              </a:rPr>
              <a:t>/publication/352563832_Multilabel_Over-sampling_and_Under-sampling_with_Class_Alignment_for_Imbalanced_Multilabel_Text_Classification.</a:t>
            </a:r>
            <a:endParaRPr sz="1500" dirty="0">
              <a:solidFill>
                <a:schemeClr val="dk1"/>
              </a:solidFill>
              <a:latin typeface="Calibri"/>
              <a:ea typeface="Calibri"/>
              <a:cs typeface="Calibri"/>
              <a:sym typeface="Calibri"/>
            </a:endParaRPr>
          </a:p>
          <a:p>
            <a:pPr marL="457200" lvl="0" indent="-323850" algn="l" rtl="0">
              <a:lnSpc>
                <a:spcPct val="115000"/>
              </a:lnSpc>
              <a:spcBef>
                <a:spcPts val="0"/>
              </a:spcBef>
              <a:spcAft>
                <a:spcPts val="0"/>
              </a:spcAft>
              <a:buClr>
                <a:schemeClr val="dk1"/>
              </a:buClr>
              <a:buSzPts val="1500"/>
              <a:buFont typeface="Calibri"/>
              <a:buChar char="●"/>
            </a:pPr>
            <a:r>
              <a:rPr lang="en-US" sz="1500" dirty="0">
                <a:solidFill>
                  <a:schemeClr val="dk1"/>
                </a:solidFill>
                <a:latin typeface="Calibri"/>
                <a:ea typeface="Calibri"/>
                <a:cs typeface="Calibri"/>
                <a:sym typeface="Calibri"/>
              </a:rPr>
              <a:t>S. M. Liu and J. H. Chen, “A multi-label classification based approach for sentiment </a:t>
            </a:r>
            <a:r>
              <a:rPr lang="en-US" sz="1500" dirty="0" err="1">
                <a:solidFill>
                  <a:schemeClr val="dk1"/>
                </a:solidFill>
                <a:latin typeface="Calibri"/>
                <a:ea typeface="Calibri"/>
                <a:cs typeface="Calibri"/>
                <a:sym typeface="Calibri"/>
              </a:rPr>
              <a:t>classification,”Expert</a:t>
            </a:r>
            <a:r>
              <a:rPr lang="en-US" sz="1500" dirty="0">
                <a:solidFill>
                  <a:schemeClr val="dk1"/>
                </a:solidFill>
                <a:latin typeface="Calibri"/>
                <a:ea typeface="Calibri"/>
                <a:cs typeface="Calibri"/>
                <a:sym typeface="Calibri"/>
              </a:rPr>
              <a:t> Systems with Applications, vol. 41, no. 5, pp.2526-2535, 2015.</a:t>
            </a:r>
            <a:endParaRPr sz="1500" dirty="0">
              <a:solidFill>
                <a:schemeClr val="dk1"/>
              </a:solidFill>
              <a:latin typeface="Calibri"/>
              <a:ea typeface="Calibri"/>
              <a:cs typeface="Calibri"/>
              <a:sym typeface="Calibri"/>
            </a:endParaRPr>
          </a:p>
          <a:p>
            <a:pPr marL="457200" marR="5080" lvl="0" indent="0" algn="just" rtl="0">
              <a:lnSpc>
                <a:spcPct val="115000"/>
              </a:lnSpc>
              <a:spcBef>
                <a:spcPts val="0"/>
              </a:spcBef>
              <a:spcAft>
                <a:spcPts val="0"/>
              </a:spcAft>
              <a:buNone/>
            </a:pPr>
            <a:endParaRPr sz="2000" dirty="0">
              <a:solidFill>
                <a:schemeClr val="dk1"/>
              </a:solidFill>
            </a:endParaRPr>
          </a:p>
          <a:p>
            <a:pPr marL="457200" marR="5080" lvl="0" indent="0" algn="just" rtl="0">
              <a:lnSpc>
                <a:spcPct val="115000"/>
              </a:lnSpc>
              <a:spcBef>
                <a:spcPts val="0"/>
              </a:spcBef>
              <a:spcAft>
                <a:spcPts val="0"/>
              </a:spcAft>
              <a:buNone/>
            </a:pPr>
            <a:endParaRPr dirty="0"/>
          </a:p>
          <a:p>
            <a:pPr marL="355600" marR="5080" lvl="0" indent="-212725" algn="just" rtl="0">
              <a:lnSpc>
                <a:spcPct val="115000"/>
              </a:lnSpc>
              <a:spcBef>
                <a:spcPts val="100"/>
              </a:spcBef>
              <a:spcAft>
                <a:spcPts val="0"/>
              </a:spcAft>
              <a:buClr>
                <a:srgbClr val="000000"/>
              </a:buClr>
              <a:buSzPts val="2050"/>
              <a:buFont typeface="Arial"/>
              <a:buNone/>
            </a:pPr>
            <a:endParaRPr sz="2000" b="0" i="0" u="none" strike="noStrike" cap="none" dirty="0">
              <a:solidFill>
                <a:schemeClr val="dk1"/>
              </a:solidFill>
              <a:latin typeface="Arial"/>
              <a:ea typeface="Arial"/>
              <a:cs typeface="Arial"/>
              <a:sym typeface="Arial"/>
            </a:endParaRPr>
          </a:p>
        </p:txBody>
      </p:sp>
      <p:sp>
        <p:nvSpPr>
          <p:cNvPr id="249" name="Google Shape;249;p11"/>
          <p:cNvSpPr txBox="1"/>
          <p:nvPr/>
        </p:nvSpPr>
        <p:spPr>
          <a:xfrm>
            <a:off x="11055985" y="6444999"/>
            <a:ext cx="258445" cy="196215"/>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21</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53"/>
        <p:cNvGrpSpPr/>
        <p:nvPr/>
      </p:nvGrpSpPr>
      <p:grpSpPr>
        <a:xfrm>
          <a:off x="0" y="0"/>
          <a:ext cx="0" cy="0"/>
          <a:chOff x="0" y="0"/>
          <a:chExt cx="0" cy="0"/>
        </a:xfrm>
      </p:grpSpPr>
      <p:grpSp>
        <p:nvGrpSpPr>
          <p:cNvPr id="254" name="Google Shape;254;p12"/>
          <p:cNvGrpSpPr/>
          <p:nvPr/>
        </p:nvGrpSpPr>
        <p:grpSpPr>
          <a:xfrm>
            <a:off x="0" y="0"/>
            <a:ext cx="12189533" cy="6856610"/>
            <a:chOff x="0" y="0"/>
            <a:chExt cx="12189533" cy="6856610"/>
          </a:xfrm>
        </p:grpSpPr>
        <p:pic>
          <p:nvPicPr>
            <p:cNvPr id="255" name="Google Shape;255;p12"/>
            <p:cNvPicPr preferRelativeResize="0"/>
            <p:nvPr/>
          </p:nvPicPr>
          <p:blipFill rotWithShape="1">
            <a:blip r:embed="rId3">
              <a:alphaModFix/>
            </a:blip>
            <a:srcRect/>
            <a:stretch/>
          </p:blipFill>
          <p:spPr>
            <a:xfrm>
              <a:off x="0" y="0"/>
              <a:ext cx="12189533" cy="6856610"/>
            </a:xfrm>
            <a:prstGeom prst="rect">
              <a:avLst/>
            </a:prstGeom>
            <a:noFill/>
            <a:ln>
              <a:noFill/>
            </a:ln>
          </p:spPr>
        </p:pic>
        <p:pic>
          <p:nvPicPr>
            <p:cNvPr id="256" name="Google Shape;256;p12"/>
            <p:cNvPicPr preferRelativeResize="0"/>
            <p:nvPr/>
          </p:nvPicPr>
          <p:blipFill rotWithShape="1">
            <a:blip r:embed="rId4">
              <a:alphaModFix/>
            </a:blip>
            <a:srcRect/>
            <a:stretch/>
          </p:blipFill>
          <p:spPr>
            <a:xfrm>
              <a:off x="5092700" y="6019800"/>
              <a:ext cx="2001414" cy="528927"/>
            </a:xfrm>
            <a:prstGeom prst="rect">
              <a:avLst/>
            </a:prstGeom>
            <a:noFill/>
            <a:ln>
              <a:noFill/>
            </a:ln>
          </p:spPr>
        </p:pic>
      </p:grpSp>
      <p:sp>
        <p:nvSpPr>
          <p:cNvPr id="257" name="Google Shape;257;p12"/>
          <p:cNvSpPr txBox="1">
            <a:spLocks noGrp="1"/>
          </p:cNvSpPr>
          <p:nvPr>
            <p:ph type="title"/>
          </p:nvPr>
        </p:nvSpPr>
        <p:spPr>
          <a:xfrm>
            <a:off x="4391963" y="3114050"/>
            <a:ext cx="3405600" cy="628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000">
                <a:solidFill>
                  <a:srgbClr val="FFFFFF"/>
                </a:solidFill>
              </a:rPr>
              <a:t>THANK YOU</a:t>
            </a:r>
            <a:endParaRPr/>
          </a:p>
        </p:txBody>
      </p:sp>
      <p:sp>
        <p:nvSpPr>
          <p:cNvPr id="258" name="Google Shape;258;p12"/>
          <p:cNvSpPr txBox="1"/>
          <p:nvPr/>
        </p:nvSpPr>
        <p:spPr>
          <a:xfrm>
            <a:off x="11055985" y="6444999"/>
            <a:ext cx="258445" cy="196215"/>
          </a:xfrm>
          <a:prstGeom prst="rect">
            <a:avLst/>
          </a:prstGeom>
          <a:noFill/>
          <a:ln>
            <a:noFill/>
          </a:ln>
        </p:spPr>
        <p:txBody>
          <a:bodyPr spcFirstLastPara="1" wrap="square" lIns="0" tIns="0" rIns="0" bIns="0" anchor="t" anchorCtr="0">
            <a:spAutoFit/>
          </a:bodyPr>
          <a:lstStyle/>
          <a:p>
            <a:pPr marL="38100" marR="0" lvl="0" indent="0" algn="l" rtl="0">
              <a:lnSpc>
                <a:spcPct val="11875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22</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05023"/>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944</Words>
  <Application>Microsoft Macintosh PowerPoint</Application>
  <PresentationFormat>Widescreen</PresentationFormat>
  <Paragraphs>111</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   Agenda</vt:lpstr>
      <vt:lpstr>Objective</vt:lpstr>
      <vt:lpstr>   Dataset Overview</vt:lpstr>
      <vt:lpstr>Dataset Example</vt:lpstr>
      <vt:lpstr>   EDA</vt:lpstr>
      <vt:lpstr>   Architecture</vt:lpstr>
      <vt:lpstr>Binary Relevance</vt:lpstr>
      <vt:lpstr>Classifier Chains</vt:lpstr>
      <vt:lpstr>Label Powerset</vt:lpstr>
      <vt:lpstr>   Comparative Analysis without Pre-Processing</vt:lpstr>
      <vt:lpstr>   Data Cleaning &amp; Preprocessing Methods</vt:lpstr>
      <vt:lpstr>   Comparative Analysis after Pre-Processing</vt:lpstr>
      <vt:lpstr>BERT</vt:lpstr>
      <vt:lpstr>Approaches followed to counter label imbalance and overfitting</vt:lpstr>
      <vt:lpstr>Results</vt:lpstr>
      <vt:lpstr>PowerPoint Presentation</vt:lpstr>
      <vt:lpstr>PowerPoint Presentation</vt:lpstr>
      <vt:lpstr>PowerPoint Presentation</vt:lpstr>
      <vt:lpstr>CONCLUSION &amp; 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RH</dc:creator>
  <cp:lastModifiedBy>Pandellapalli, Sandeep</cp:lastModifiedBy>
  <cp:revision>1</cp:revision>
  <dcterms:created xsi:type="dcterms:W3CDTF">2023-11-05T16:18:55Z</dcterms:created>
  <dcterms:modified xsi:type="dcterms:W3CDTF">2024-12-05T18:08:36Z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2022-06-14T00:00:00Z</vt:filetime>
  </property>
  <property fmtid="{D5CDD505-2E9C-101B-9397-08002B2CF9AE}" pid="3" name="Creator">
    <vt:lpwstr>Aspose Ltd.</vt:lpwstr>
  </property>
  <property fmtid="{D5CDD505-2E9C-101B-9397-08002B2CF9AE}" pid="4" name="LastSaved">
    <vt:filetime>2023-11-05T00:00:00Z</vt:filetime>
  </property>
  <property fmtid="{D5CDD505-2E9C-101B-9397-08002B2CF9AE}" pid="5" name="Producer">
    <vt:lpwstr>Aspose.PDF for Java 19.12</vt:lpwstr>
  </property>
</Properties>
</file>